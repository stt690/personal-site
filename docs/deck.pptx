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0"/>
    <c:plotArea>
      <c:layout/>
      <c:radarChart>
        <c:radarStyle val="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我现在</c:v>
                </c:pt>
              </c:strCache>
            </c:strRef>
          </c:tx>
          <c:spPr>
            <a:solidFill>
              <a:srgbClr val="1771A8"/>
            </a:solidFill>
            <a:ln w="25400">
              <a:solidFill>
                <a:srgbClr val="1771A8"/>
              </a:solidFill>
            </a:ln>
          </c:spPr>
          <c:cat>
            <c:strRef>
              <c:f>Sheet1!$A$2:$A$7</c:f>
              <c:strCache>
                <c:ptCount val="6"/>
                <c:pt idx="0">
                  <c:v>创意与策划</c:v>
                </c:pt>
                <c:pt idx="1">
                  <c:v>内容创作与表达</c:v>
                </c:pt>
                <c:pt idx="2">
                  <c:v>技术工具与 AI</c:v>
                </c:pt>
                <c:pt idx="3">
                  <c:v>沟通与提案</c:v>
                </c:pt>
                <c:pt idx="4">
                  <c:v>项目与协同</c:v>
                </c:pt>
                <c:pt idx="5">
                  <c:v>数据分析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</c:v>
                </c:pt>
                <c:pt idx="1">
                  <c:v>3</c:v>
                </c:pt>
                <c:pt idx="2">
                  <c:v>4</c:v>
                </c:pt>
                <c:pt idx="3">
                  <c:v>3</c:v>
                </c:pt>
                <c:pt idx="4">
                  <c:v>3</c:v>
                </c:pt>
                <c:pt idx="5">
                  <c:v>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岗位要求</c:v>
                </c:pt>
              </c:strCache>
            </c:strRef>
          </c:tx>
          <c:spPr>
            <a:solidFill>
              <a:srgbClr val="D9E3EC"/>
            </a:solidFill>
            <a:ln w="19050">
              <a:solidFill>
                <a:srgbClr val="939EA9"/>
              </a:solidFill>
            </a:ln>
          </c:spPr>
          <c:cat>
            <c:strRef>
              <c:f>Sheet1!$A$2:$A$7</c:f>
              <c:strCache>
                <c:ptCount val="6"/>
                <c:pt idx="0">
                  <c:v>创意与策划</c:v>
                </c:pt>
                <c:pt idx="1">
                  <c:v>内容创作与表达</c:v>
                </c:pt>
                <c:pt idx="2">
                  <c:v>技术工具与 AI</c:v>
                </c:pt>
                <c:pt idx="3">
                  <c:v>沟通与提案</c:v>
                </c:pt>
                <c:pt idx="4">
                  <c:v>项目与协同</c:v>
                </c:pt>
                <c:pt idx="5">
                  <c:v>数据分析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5</c:v>
                </c:pt>
                <c:pt idx="1">
                  <c:v>5</c:v>
                </c:pt>
                <c:pt idx="2">
                  <c:v>5</c:v>
                </c:pt>
                <c:pt idx="3">
                  <c:v>4</c:v>
                </c:pt>
                <c:pt idx="4">
                  <c:v>4</c:v>
                </c:pt>
                <c:pt idx="5">
                  <c:v>4</c:v>
                </c:pt>
              </c:numCache>
            </c:numRef>
          </c:val>
          <c:smooth val="0"/>
        </c:ser>
        <c:axId val="2073612648"/>
        <c:axId val="-2112772216"/>
      </c:radarChart>
      <c:catAx>
        <c:axId val="2073612648"/>
        <c:scaling>
          <c:orientation val="minMax"/>
        </c:scaling>
        <c:delete val="0"/>
        <c:axPos val="b"/>
        <c:majorGridlines/>
        <c:numFmt formatCode="m/d/yy" sourceLinked="1"/>
        <c:majorTickMark val="out"/>
        <c:minorTickMark val="none"/>
        <c:tickLblPos val="nextTo"/>
        <c:crossAx val="-2112772216"/>
        <c:crosses val="autoZero"/>
        <c:auto val="1"/>
        <c:lblAlgn val="ctr"/>
        <c:lblOffset val="100"/>
        <c:noMultiLvlLbl val="0"/>
      </c:catAx>
      <c:valAx>
        <c:axId val="-2112772216"/>
        <c:scaling>
          <c:orientation val="minMax"/>
          <c:max val="5.0"/>
          <c:min val="0.0"/>
        </c:scaling>
        <c:delete val="0"/>
        <c:axPos val="l"/>
        <c:majorGridlines/>
        <c:numFmt formatCode="General" sourceLinked="1"/>
        <c:majorTickMark val="cross"/>
        <c:minorTickMark val="none"/>
        <c:tickLblPos val="nextTo"/>
        <c:crossAx val="2073612648"/>
        <c:crosses val="autoZero"/>
        <c:crossBetween val="between"/>
      </c:valAx>
    </c:plotArea>
    <c:legend>
      <c:legendPos val="b"/>
      <c:overlay val="0"/>
    </c:legend>
    <c:plotVisOnly val="1"/>
    <c:dispBlanksAs val="gap"/>
    <c:showDLblsOverMax val="0"/>
  </c:chart>
  <c:txPr>
    <a:bodyPr/>
    <a:lstStyle/>
    <a:p>
      <a:pPr>
        <a:defRPr sz="1100">
          <a:latin typeface="微软雅黑"/>
          <a:ea typeface="微软雅黑"/>
        </a:defRPr>
      </a:pPr>
      <a:endParaRPr lang="en-US">
        <a:ea typeface="微软雅黑"/>
      </a:endParaRPr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B3C5E"/>
              </a:gs>
              <a:gs pos="100000">
                <a:srgbClr val="07182C"/>
              </a:gs>
            </a:gsLst>
            <a:lin ang="360000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77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419295" y="822960"/>
            <a:ext cx="6949440" cy="50292"/>
          </a:xfrm>
          <a:prstGeom prst="rect">
            <a:avLst/>
          </a:prstGeom>
          <a:solidFill>
            <a:srgbClr val="2A55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30975" y="1298448"/>
            <a:ext cx="4937760" cy="50292"/>
          </a:xfrm>
          <a:prstGeom prst="rect">
            <a:avLst/>
          </a:prstGeom>
          <a:solidFill>
            <a:srgbClr val="2A55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442655" y="1773936"/>
            <a:ext cx="2926080" cy="50292"/>
          </a:xfrm>
          <a:prstGeom prst="rect">
            <a:avLst/>
          </a:prstGeom>
          <a:solidFill>
            <a:srgbClr val="2A55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874519"/>
            <a:ext cx="8778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8FB6D4"/>
                </a:solidFill>
                <a:latin typeface="微软雅黑"/>
                <a:ea typeface="微软雅黑"/>
              </a:rPr>
              <a:t>第四届全国大学生职业规划大赛 · 成长赛道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395728"/>
            <a:ext cx="969264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4600" b="1" i="0">
                <a:solidFill>
                  <a:srgbClr val="FFFFFF"/>
                </a:solidFill>
                <a:latin typeface="微软雅黑"/>
                <a:ea typeface="微软雅黑"/>
              </a:rPr>
              <a:t>把中国故事</a:t>
            </a:r>
          </a:p>
          <a:p>
            <a:pPr algn="l">
              <a:lnSpc>
                <a:spcPct val="108000"/>
              </a:lnSpc>
            </a:pPr>
            <a:r>
              <a:rPr sz="4600" b="1" i="0">
                <a:solidFill>
                  <a:srgbClr val="6CB4E0"/>
                </a:solidFill>
                <a:latin typeface="微软雅黑"/>
                <a:ea typeface="微软雅黑"/>
              </a:rPr>
              <a:t>讲给愿意读完的人</a:t>
            </a:r>
          </a:p>
        </p:txBody>
      </p:sp>
      <p:sp>
        <p:nvSpPr>
          <p:cNvPr id="9" name="Rectangle 8"/>
          <p:cNvSpPr/>
          <p:nvPr/>
        </p:nvSpPr>
        <p:spPr>
          <a:xfrm>
            <a:off x="1051560" y="4315968"/>
            <a:ext cx="1371600" cy="45720"/>
          </a:xfrm>
          <a:prstGeom prst="rect">
            <a:avLst/>
          </a:prstGeom>
          <a:solidFill>
            <a:srgbClr val="6CB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4553712"/>
            <a:ext cx="91440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 i="0">
                <a:solidFill>
                  <a:srgbClr val="FFFFFF"/>
                </a:solidFill>
                <a:latin typeface="微软雅黑"/>
                <a:ea typeface="微软雅黑"/>
              </a:rPr>
              <a:t>目标岗位：海外新媒体运营（国际传播方向）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5138928"/>
            <a:ext cx="914400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A9C3D6"/>
                </a:solidFill>
                <a:latin typeface="微软雅黑"/>
                <a:ea typeface="微软雅黑"/>
              </a:rPr>
              <a:t>参赛人　苏彤彤　　上海外国语大学　新闻传播学类　本科一年级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51560" y="5870448"/>
            <a:ext cx="27432" cy="457200"/>
          </a:xfrm>
          <a:prstGeom prst="rect">
            <a:avLst/>
          </a:prstGeom>
          <a:solidFill>
            <a:srgbClr val="3C6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52728" y="5833872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7FA6C4"/>
                </a:solidFill>
                <a:latin typeface="微软雅黑"/>
                <a:ea typeface="微软雅黑"/>
              </a:rPr>
              <a:t>赛道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52728" y="6071616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FFFFFF"/>
                </a:solidFill>
                <a:latin typeface="微软雅黑"/>
                <a:ea typeface="微软雅黑"/>
              </a:rPr>
              <a:t>成长赛道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17720" y="5870448"/>
            <a:ext cx="27432" cy="457200"/>
          </a:xfrm>
          <a:prstGeom prst="rect">
            <a:avLst/>
          </a:prstGeom>
          <a:solidFill>
            <a:srgbClr val="3C6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18888" y="5833872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7FA6C4"/>
                </a:solidFill>
                <a:latin typeface="微软雅黑"/>
                <a:ea typeface="微软雅黑"/>
              </a:rPr>
              <a:t>方向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18888" y="6071616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FFFFFF"/>
                </a:solidFill>
                <a:latin typeface="微软雅黑"/>
                <a:ea typeface="微软雅黑"/>
              </a:rPr>
              <a:t>文旅艺术 · 国际传播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83879" y="5870448"/>
            <a:ext cx="27432" cy="457200"/>
          </a:xfrm>
          <a:prstGeom prst="rect">
            <a:avLst/>
          </a:prstGeom>
          <a:solidFill>
            <a:srgbClr val="3C6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85048" y="5833872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7FA6C4"/>
                </a:solidFill>
                <a:latin typeface="微软雅黑"/>
                <a:ea typeface="微软雅黑"/>
              </a:rPr>
              <a:t>材料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5048" y="6071616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FFFFFF"/>
                </a:solidFill>
                <a:latin typeface="微软雅黑"/>
                <a:ea typeface="微软雅黑"/>
              </a:rPr>
              <a:t>报告 + 展示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77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402336"/>
            <a:ext cx="969264" cy="292608"/>
          </a:xfrm>
          <a:prstGeom prst="roundRect">
            <a:avLst>
              <a:gd name="adj" fmla="val 50000"/>
            </a:avLst>
          </a:prstGeom>
          <a:solidFill>
            <a:srgbClr val="E9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  <a:r>
              <a:rPr sz="1100" b="1">
                <a:solidFill>
                  <a:srgbClr val="0F527D"/>
                </a:solidFill>
                <a:latin typeface="微软雅黑"/>
                <a:ea typeface="微软雅黑"/>
              </a:rPr>
              <a:t>开场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04672"/>
            <a:ext cx="10543032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0E2A47"/>
                </a:solidFill>
                <a:latin typeface="微软雅黑"/>
                <a:ea typeface="微软雅黑"/>
              </a:rPr>
              <a:t>一个做不下去的账号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353312"/>
            <a:ext cx="566928" cy="41148"/>
          </a:xfrm>
          <a:prstGeom prst="rect">
            <a:avLst/>
          </a:prstGeom>
          <a:solidFill>
            <a:srgbClr val="177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18520" y="6327648"/>
            <a:ext cx="8229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 i="0">
                <a:solidFill>
                  <a:srgbClr val="939EA9"/>
                </a:solidFill>
                <a:latin typeface="微软雅黑"/>
                <a:ea typeface="微软雅黑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38251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 i="0">
                <a:solidFill>
                  <a:srgbClr val="939EA9"/>
                </a:solidFill>
                <a:latin typeface="微软雅黑"/>
                <a:ea typeface="微软雅黑"/>
              </a:rPr>
              <a:t>苏彤彤 · 成长赛道 · 生涯发展展示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691640"/>
            <a:ext cx="10972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600" b="1" i="0">
                <a:solidFill>
                  <a:srgbClr val="C8D8E4"/>
                </a:solidFill>
                <a:latin typeface="微软雅黑"/>
                <a:ea typeface="微软雅黑"/>
              </a:rPr>
              <a:t>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83080" y="1874519"/>
            <a:ext cx="905256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2500" b="1" i="0">
                <a:solidFill>
                  <a:srgbClr val="0E2A47"/>
                </a:solidFill>
                <a:latin typeface="微软雅黑"/>
                <a:ea typeface="微软雅黑"/>
              </a:rPr>
              <a:t>「能产出」和「有辨识度」，</a:t>
            </a:r>
          </a:p>
          <a:p>
            <a:pPr algn="l">
              <a:lnSpc>
                <a:spcPct val="136000"/>
              </a:lnSpc>
            </a:pPr>
            <a:r>
              <a:rPr sz="2500" b="1" i="0">
                <a:solidFill>
                  <a:srgbClr val="1771A8"/>
                </a:solidFill>
                <a:latin typeface="微软雅黑"/>
                <a:ea typeface="微软雅黑"/>
              </a:rPr>
              <a:t>是两回事。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3803904"/>
            <a:ext cx="10543032" cy="18288"/>
          </a:xfrm>
          <a:prstGeom prst="rect">
            <a:avLst/>
          </a:prstGeom>
          <a:solidFill>
            <a:srgbClr val="DC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041648"/>
            <a:ext cx="996696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50" b="0" i="0">
                <a:solidFill>
                  <a:srgbClr val="5A6875"/>
                </a:solidFill>
                <a:latin typeface="微软雅黑"/>
                <a:ea typeface="微软雅黑"/>
              </a:rPr>
              <a:t>暑假我开始做职业规划，最初想的是运营或公关，于是开了自己的账号，用真实作品检验判断。</a:t>
            </a:r>
          </a:p>
          <a:p>
            <a:pPr algn="l">
              <a:lnSpc>
                <a:spcPct val="150000"/>
              </a:lnSpc>
              <a:spcBef>
                <a:spcPts val="400"/>
              </a:spcBef>
            </a:pPr>
            <a:r>
              <a:rPr sz="1450" b="0" i="0">
                <a:solidFill>
                  <a:srgbClr val="5A6875"/>
                </a:solidFill>
                <a:latin typeface="微软雅黑"/>
                <a:ea typeface="微软雅黑"/>
              </a:rPr>
              <a:t>起初做电影分析，很快就撞上问题：同类内容太多、同质化严重，做不出别人一眼认得出的个人风格。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5349240"/>
            <a:ext cx="5074920" cy="841248"/>
          </a:xfrm>
          <a:prstGeom prst="roundRect">
            <a:avLst>
              <a:gd name="adj" fmla="val 7000"/>
            </a:avLst>
          </a:prstGeom>
          <a:solidFill>
            <a:srgbClr val="E9F2F9"/>
          </a:solidFill>
          <a:ln w="12700">
            <a:solidFill>
              <a:srgbClr val="DCE3EA"/>
            </a:solidFill>
          </a:ln>
          <a:effectLst/>
          <a:effectLst>
            <a:outerShdw blurRad="101600" dist="19050" dir="5400000" algn="tl" rotWithShape="0">
              <a:srgbClr val="0E2A47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182880" bIns="91440"/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0E2A47"/>
                </a:solidFill>
                <a:latin typeface="微软雅黑"/>
                <a:ea typeface="微软雅黑"/>
              </a:rPr>
              <a:t>我问了谁</a:t>
            </a:r>
          </a:p>
          <a:p>
            <a:pPr algn="l">
              <a:lnSpc>
                <a:spcPct val="142000"/>
              </a:lnSpc>
              <a:spcBef>
                <a:spcPts val="500"/>
              </a:spcBef>
            </a:pPr>
            <a:r>
              <a:rPr sz="1250" b="0" i="0">
                <a:solidFill>
                  <a:srgbClr val="5A6875"/>
                </a:solidFill>
                <a:latin typeface="微软雅黑"/>
                <a:ea typeface="微软雅黑"/>
              </a:rPr>
              <a:t>请教相关老师，明确特长与风格后换赛道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5495544"/>
            <a:ext cx="41148" cy="548640"/>
          </a:xfrm>
          <a:prstGeom prst="rect">
            <a:avLst/>
          </a:prstGeom>
          <a:solidFill>
            <a:srgbClr val="177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45352" y="5349240"/>
            <a:ext cx="5120640" cy="841248"/>
          </a:xfrm>
          <a:prstGeom prst="roundRect">
            <a:avLst>
              <a:gd name="adj" fmla="val 7000"/>
            </a:avLst>
          </a:prstGeom>
          <a:solidFill>
            <a:srgbClr val="F4F7FA"/>
          </a:solidFill>
          <a:ln w="12700">
            <a:solidFill>
              <a:srgbClr val="DCE3EA"/>
            </a:solidFill>
          </a:ln>
          <a:effectLst/>
          <a:effectLst>
            <a:outerShdw blurRad="101600" dist="19050" dir="5400000" algn="tl" rotWithShape="0">
              <a:srgbClr val="0E2A47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182880" bIns="91440"/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C4703C"/>
                </a:solidFill>
                <a:latin typeface="微软雅黑"/>
                <a:ea typeface="微软雅黑"/>
              </a:rPr>
              <a:t>现在在做什么</a:t>
            </a:r>
          </a:p>
          <a:p>
            <a:pPr algn="l">
              <a:lnSpc>
                <a:spcPct val="142000"/>
              </a:lnSpc>
              <a:spcBef>
                <a:spcPts val="500"/>
              </a:spcBef>
            </a:pPr>
            <a:r>
              <a:rPr sz="1250" b="0" i="0">
                <a:solidFill>
                  <a:srgbClr val="5A6875"/>
                </a:solidFill>
                <a:latin typeface="微软雅黑"/>
                <a:ea typeface="微软雅黑"/>
              </a:rPr>
              <a:t>账号已换赛道，作品进行中；同时在练剪映、学拍摄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45352" y="5495544"/>
            <a:ext cx="41148" cy="548640"/>
          </a:xfrm>
          <a:prstGeom prst="rect">
            <a:avLst/>
          </a:prstGeom>
          <a:solidFill>
            <a:srgbClr val="C47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77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402336"/>
            <a:ext cx="969264" cy="292608"/>
          </a:xfrm>
          <a:prstGeom prst="roundRect">
            <a:avLst>
              <a:gd name="adj" fmla="val 50000"/>
            </a:avLst>
          </a:prstGeom>
          <a:solidFill>
            <a:srgbClr val="E9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  <a:r>
              <a:rPr sz="1100" b="1">
                <a:solidFill>
                  <a:srgbClr val="0F527D"/>
                </a:solidFill>
                <a:latin typeface="微软雅黑"/>
                <a:ea typeface="微软雅黑"/>
              </a:rPr>
              <a:t>定位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04672"/>
            <a:ext cx="10543032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0E2A47"/>
                </a:solidFill>
                <a:latin typeface="微软雅黑"/>
                <a:ea typeface="微软雅黑"/>
              </a:rPr>
              <a:t>我是谁，我要去哪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44752"/>
            <a:ext cx="10543032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5A6875"/>
                </a:solidFill>
                <a:latin typeface="微软雅黑"/>
                <a:ea typeface="微软雅黑"/>
              </a:rPr>
              <a:t>大一不是终点，是验证期的起点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353312"/>
            <a:ext cx="566928" cy="41148"/>
          </a:xfrm>
          <a:prstGeom prst="rect">
            <a:avLst/>
          </a:prstGeom>
          <a:solidFill>
            <a:srgbClr val="177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104120" y="457200"/>
            <a:ext cx="274320" cy="82296"/>
          </a:xfrm>
          <a:prstGeom prst="roundRect">
            <a:avLst>
              <a:gd name="adj" fmla="val 50000"/>
            </a:avLst>
          </a:prstGeom>
          <a:solidFill>
            <a:srgbClr val="177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69880" y="457200"/>
            <a:ext cx="274320" cy="82296"/>
          </a:xfrm>
          <a:prstGeom prst="roundRect">
            <a:avLst>
              <a:gd name="adj" fmla="val 50000"/>
            </a:avLst>
          </a:prstGeom>
          <a:solidFill>
            <a:srgbClr val="DC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835640" y="457200"/>
            <a:ext cx="274320" cy="82296"/>
          </a:xfrm>
          <a:prstGeom prst="roundRect">
            <a:avLst>
              <a:gd name="adj" fmla="val 50000"/>
            </a:avLst>
          </a:prstGeom>
          <a:solidFill>
            <a:srgbClr val="DC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1201400" y="457200"/>
            <a:ext cx="274320" cy="82296"/>
          </a:xfrm>
          <a:prstGeom prst="roundRect">
            <a:avLst>
              <a:gd name="adj" fmla="val 50000"/>
            </a:avLst>
          </a:prstGeom>
          <a:solidFill>
            <a:srgbClr val="DC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0" y="566928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 i="0">
                <a:solidFill>
                  <a:srgbClr val="939EA9"/>
                </a:solidFill>
                <a:latin typeface="微软雅黑"/>
                <a:ea typeface="微软雅黑"/>
              </a:rPr>
              <a:t>设定目标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18520" y="6327648"/>
            <a:ext cx="8229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 i="0">
                <a:solidFill>
                  <a:srgbClr val="939EA9"/>
                </a:solidFill>
                <a:latin typeface="微软雅黑"/>
                <a:ea typeface="微软雅黑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638251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 i="0">
                <a:solidFill>
                  <a:srgbClr val="939EA9"/>
                </a:solidFill>
                <a:latin typeface="微软雅黑"/>
                <a:ea typeface="微软雅黑"/>
              </a:rPr>
              <a:t>苏彤彤 · 成长赛道 · 生涯发展展示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2148840"/>
            <a:ext cx="10543032" cy="1207008"/>
          </a:xfrm>
          <a:prstGeom prst="roundRect">
            <a:avLst>
              <a:gd name="adj" fmla="val 6000"/>
            </a:avLst>
          </a:prstGeom>
          <a:gradFill>
            <a:gsLst>
              <a:gs pos="0">
                <a:srgbClr val="1B3C5E"/>
              </a:gs>
              <a:gs pos="100000">
                <a:srgbClr val="0A1F36"/>
              </a:gs>
            </a:gsLst>
            <a:lin ang="5400000" scaled="0"/>
            <a:tileRect/>
          </a:gradFill>
          <a:ln>
            <a:noFill/>
          </a:ln>
          <a:effectLst/>
          <a:effectLst>
            <a:outerShdw blurRad="152400" dist="38100" dir="5400000" algn="tl" rotWithShape="0">
              <a:srgbClr val="0E2A47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4048" rIns="146304" tIns="237744" bIns="91440"/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7FA6C4"/>
                </a:solidFill>
                <a:latin typeface="微软雅黑"/>
                <a:ea typeface="微软雅黑"/>
              </a:rPr>
              <a:t>目标岗位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sz="2700" b="1" i="0">
                <a:solidFill>
                  <a:srgbClr val="FFFFFF"/>
                </a:solidFill>
                <a:latin typeface="微软雅黑"/>
                <a:ea typeface="微软雅黑"/>
              </a:rPr>
              <a:t>海外新媒体运营（国际传播方向）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3611880"/>
            <a:ext cx="3364992" cy="15727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CE3EA"/>
            </a:solidFill>
          </a:ln>
          <a:effectLst/>
          <a:effectLst>
            <a:outerShdw blurRad="101600" dist="19050" dir="5400000" algn="tl" rotWithShape="0">
              <a:srgbClr val="0E2A47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182880" bIns="91440"/>
          <a:lstStyle/>
          <a:p>
            <a:pPr algn="l">
              <a:lnSpc>
                <a:spcPct val="125000"/>
              </a:lnSpc>
            </a:pPr>
            <a:r>
              <a:rPr sz="1250" b="1" i="0">
                <a:solidFill>
                  <a:srgbClr val="0E2A47"/>
                </a:solidFill>
                <a:latin typeface="微软雅黑"/>
                <a:ea typeface="微软雅黑"/>
              </a:rPr>
              <a:t>所属行业</a:t>
            </a:r>
          </a:p>
          <a:p>
            <a:pPr algn="l">
              <a:lnSpc>
                <a:spcPct val="142000"/>
              </a:lnSpc>
              <a:spcBef>
                <a:spcPts val="500"/>
              </a:spcBef>
            </a:pPr>
            <a:r>
              <a:rPr sz="1200" b="0" i="0">
                <a:solidFill>
                  <a:srgbClr val="5A6875"/>
                </a:solidFill>
                <a:latin typeface="微软雅黑"/>
                <a:ea typeface="微软雅黑"/>
              </a:rPr>
              <a:t>文旅艺术 / 文化出海
博物馆、文创品牌、文旅推广机构的海外传播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3758184"/>
            <a:ext cx="41148" cy="1280160"/>
          </a:xfrm>
          <a:prstGeom prst="rect">
            <a:avLst/>
          </a:prstGeom>
          <a:solidFill>
            <a:srgbClr val="177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407408" y="3611880"/>
            <a:ext cx="3364992" cy="15727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CE3EA"/>
            </a:solidFill>
          </a:ln>
          <a:effectLst/>
          <a:effectLst>
            <a:outerShdw blurRad="101600" dist="19050" dir="5400000" algn="tl" rotWithShape="0">
              <a:srgbClr val="0E2A47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182880" bIns="91440"/>
          <a:lstStyle/>
          <a:p>
            <a:pPr algn="l">
              <a:lnSpc>
                <a:spcPct val="125000"/>
              </a:lnSpc>
            </a:pPr>
            <a:r>
              <a:rPr sz="1250" b="1" i="0">
                <a:solidFill>
                  <a:srgbClr val="0E2A47"/>
                </a:solidFill>
                <a:latin typeface="微软雅黑"/>
                <a:ea typeface="微软雅黑"/>
              </a:rPr>
              <a:t>职能归属</a:t>
            </a:r>
          </a:p>
          <a:p>
            <a:pPr algn="l">
              <a:lnSpc>
                <a:spcPct val="142000"/>
              </a:lnSpc>
              <a:spcBef>
                <a:spcPts val="500"/>
              </a:spcBef>
            </a:pPr>
            <a:r>
              <a:rPr sz="1200" b="0" i="0">
                <a:solidFill>
                  <a:srgbClr val="5A6875"/>
                </a:solidFill>
                <a:latin typeface="微软雅黑"/>
                <a:ea typeface="微软雅黑"/>
              </a:rPr>
              <a:t>内容编辑 + 账号增长
报名系统归档到「传媒文化类 · 编辑」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07408" y="3758184"/>
            <a:ext cx="41148" cy="1280160"/>
          </a:xfrm>
          <a:prstGeom prst="rect">
            <a:avLst/>
          </a:prstGeom>
          <a:solidFill>
            <a:srgbClr val="177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991856" y="3611880"/>
            <a:ext cx="3364992" cy="15727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CE3EA"/>
            </a:solidFill>
          </a:ln>
          <a:effectLst/>
          <a:effectLst>
            <a:outerShdw blurRad="101600" dist="19050" dir="5400000" algn="tl" rotWithShape="0">
              <a:srgbClr val="0E2A47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182880" bIns="91440"/>
          <a:lstStyle/>
          <a:p>
            <a:pPr algn="l">
              <a:lnSpc>
                <a:spcPct val="125000"/>
              </a:lnSpc>
            </a:pPr>
            <a:r>
              <a:rPr sz="1250" b="1" i="0">
                <a:solidFill>
                  <a:srgbClr val="0E2A47"/>
                </a:solidFill>
                <a:latin typeface="微软雅黑"/>
                <a:ea typeface="微软雅黑"/>
              </a:rPr>
              <a:t>目标地区</a:t>
            </a:r>
          </a:p>
          <a:p>
            <a:pPr algn="l">
              <a:lnSpc>
                <a:spcPct val="142000"/>
              </a:lnSpc>
              <a:spcBef>
                <a:spcPts val="500"/>
              </a:spcBef>
            </a:pPr>
            <a:r>
              <a:rPr sz="1200" b="0" i="0">
                <a:solidFill>
                  <a:srgbClr val="5A6875"/>
                </a:solidFill>
                <a:latin typeface="微软雅黑"/>
                <a:ea typeface="微软雅黑"/>
              </a:rPr>
              <a:t>上海
出海业务不受城市限制，上海内容岗位最密集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991856" y="3758184"/>
            <a:ext cx="41148" cy="1280160"/>
          </a:xfrm>
          <a:prstGeom prst="rect">
            <a:avLst/>
          </a:prstGeom>
          <a:solidFill>
            <a:srgbClr val="177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5468112"/>
            <a:ext cx="10543032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1" i="0">
                <a:solidFill>
                  <a:srgbClr val="0E2A47"/>
                </a:solidFill>
                <a:latin typeface="微软雅黑"/>
                <a:ea typeface="微软雅黑"/>
              </a:rPr>
              <a:t>一句话说明：我要做的不是「把中文翻成英文」，而是判断一条中国内容，对海外读者来说第一个五秒该说什么。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77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402336"/>
            <a:ext cx="969264" cy="292608"/>
          </a:xfrm>
          <a:prstGeom prst="roundRect">
            <a:avLst>
              <a:gd name="adj" fmla="val 50000"/>
            </a:avLst>
          </a:prstGeom>
          <a:solidFill>
            <a:srgbClr val="E9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  <a:r>
              <a:rPr sz="1100" b="1">
                <a:solidFill>
                  <a:srgbClr val="0F527D"/>
                </a:solidFill>
                <a:latin typeface="微软雅黑"/>
                <a:ea typeface="微软雅黑"/>
              </a:rPr>
              <a:t>岗位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04672"/>
            <a:ext cx="10543032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0E2A47"/>
                </a:solidFill>
                <a:latin typeface="微软雅黑"/>
                <a:ea typeface="微软雅黑"/>
              </a:rPr>
              <a:t>这个岗位到底要什么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44752"/>
            <a:ext cx="10543032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5A6875"/>
                </a:solidFill>
                <a:latin typeface="微软雅黑"/>
                <a:ea typeface="微软雅黑"/>
              </a:rPr>
              <a:t>不来自想象，来自招聘信息与从业者访谈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353312"/>
            <a:ext cx="566928" cy="41148"/>
          </a:xfrm>
          <a:prstGeom prst="rect">
            <a:avLst/>
          </a:prstGeom>
          <a:solidFill>
            <a:srgbClr val="177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104120" y="457200"/>
            <a:ext cx="274320" cy="82296"/>
          </a:xfrm>
          <a:prstGeom prst="roundRect">
            <a:avLst>
              <a:gd name="adj" fmla="val 50000"/>
            </a:avLst>
          </a:prstGeom>
          <a:solidFill>
            <a:srgbClr val="177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69880" y="457200"/>
            <a:ext cx="274320" cy="82296"/>
          </a:xfrm>
          <a:prstGeom prst="roundRect">
            <a:avLst>
              <a:gd name="adj" fmla="val 50000"/>
            </a:avLst>
          </a:prstGeom>
          <a:solidFill>
            <a:srgbClr val="DC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835640" y="457200"/>
            <a:ext cx="274320" cy="82296"/>
          </a:xfrm>
          <a:prstGeom prst="roundRect">
            <a:avLst>
              <a:gd name="adj" fmla="val 50000"/>
            </a:avLst>
          </a:prstGeom>
          <a:solidFill>
            <a:srgbClr val="DC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1201400" y="457200"/>
            <a:ext cx="274320" cy="82296"/>
          </a:xfrm>
          <a:prstGeom prst="roundRect">
            <a:avLst>
              <a:gd name="adj" fmla="val 50000"/>
            </a:avLst>
          </a:prstGeom>
          <a:solidFill>
            <a:srgbClr val="DC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0" y="566928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 i="0">
                <a:solidFill>
                  <a:srgbClr val="939EA9"/>
                </a:solidFill>
                <a:latin typeface="微软雅黑"/>
                <a:ea typeface="微软雅黑"/>
              </a:rPr>
              <a:t>设定目标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18520" y="6327648"/>
            <a:ext cx="8229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 i="0">
                <a:solidFill>
                  <a:srgbClr val="939EA9"/>
                </a:solidFill>
                <a:latin typeface="微软雅黑"/>
                <a:ea typeface="微软雅黑"/>
              </a:rPr>
              <a:t>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638251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 i="0">
                <a:solidFill>
                  <a:srgbClr val="939EA9"/>
                </a:solidFill>
                <a:latin typeface="微软雅黑"/>
                <a:ea typeface="微软雅黑"/>
              </a:rPr>
              <a:t>苏彤彤 · 成长赛道 · 生涯发展展示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2212848"/>
            <a:ext cx="3364992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3EA"/>
            </a:solidFill>
          </a:ln>
          <a:effectLst/>
          <a:effectLst>
            <a:outerShdw blurRad="114300" dist="25400" dir="5400000" algn="tl" rotWithShape="0">
              <a:srgbClr val="0E2A47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146304" tIns="237744" bIns="91440"/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C8D8E4"/>
                </a:solidFill>
                <a:latin typeface="微软雅黑"/>
                <a:ea typeface="微软雅黑"/>
              </a:rPr>
              <a:t>01</a:t>
            </a:r>
          </a:p>
          <a:p>
            <a:pPr algn="l">
              <a:lnSpc>
                <a:spcPct val="125000"/>
              </a:lnSpc>
              <a:spcBef>
                <a:spcPts val="200"/>
              </a:spcBef>
            </a:pPr>
            <a:r>
              <a:rPr sz="1700" b="1" i="0">
                <a:solidFill>
                  <a:srgbClr val="0E2A47"/>
                </a:solidFill>
                <a:latin typeface="微软雅黑"/>
                <a:ea typeface="微软雅黑"/>
              </a:rPr>
              <a:t>跨文化判断</a:t>
            </a:r>
          </a:p>
          <a:p>
            <a:pPr algn="l">
              <a:lnSpc>
                <a:spcPct val="142000"/>
              </a:lnSpc>
              <a:spcBef>
                <a:spcPts val="800"/>
              </a:spcBef>
            </a:pPr>
            <a:r>
              <a:rPr sz="1250" b="0" i="0">
                <a:solidFill>
                  <a:srgbClr val="5A6875"/>
                </a:solidFill>
                <a:latin typeface="微软雅黑"/>
                <a:ea typeface="微软雅黑"/>
              </a:rPr>
              <a:t>知道什么会引起误解、什么需要补背景；
不是语言能力，是语境能力。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07408" y="2212848"/>
            <a:ext cx="3364992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3EA"/>
            </a:solidFill>
          </a:ln>
          <a:effectLst/>
          <a:effectLst>
            <a:outerShdw blurRad="114300" dist="25400" dir="5400000" algn="tl" rotWithShape="0">
              <a:srgbClr val="0E2A47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146304" tIns="237744" bIns="91440"/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C8D8E4"/>
                </a:solidFill>
                <a:latin typeface="微软雅黑"/>
                <a:ea typeface="微软雅黑"/>
              </a:rPr>
              <a:t>02</a:t>
            </a:r>
          </a:p>
          <a:p>
            <a:pPr algn="l">
              <a:lnSpc>
                <a:spcPct val="125000"/>
              </a:lnSpc>
              <a:spcBef>
                <a:spcPts val="200"/>
              </a:spcBef>
            </a:pPr>
            <a:r>
              <a:rPr sz="1700" b="1" i="0">
                <a:solidFill>
                  <a:srgbClr val="0E2A47"/>
                </a:solidFill>
                <a:latin typeface="微软雅黑"/>
                <a:ea typeface="微软雅黑"/>
              </a:rPr>
              <a:t>内容生产闭环</a:t>
            </a:r>
          </a:p>
          <a:p>
            <a:pPr algn="l">
              <a:lnSpc>
                <a:spcPct val="142000"/>
              </a:lnSpc>
              <a:spcBef>
                <a:spcPts val="800"/>
              </a:spcBef>
            </a:pPr>
            <a:r>
              <a:rPr sz="1250" b="0" i="0">
                <a:solidFill>
                  <a:srgbClr val="5A6875"/>
                </a:solidFill>
                <a:latin typeface="微软雅黑"/>
                <a:ea typeface="微软雅黑"/>
              </a:rPr>
              <a:t>从选题、改写、成片到发布，一个人跑完；
能交付，而不只是能提想法。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91856" y="2212848"/>
            <a:ext cx="3364992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3EA"/>
            </a:solidFill>
          </a:ln>
          <a:effectLst/>
          <a:effectLst>
            <a:outerShdw blurRad="114300" dist="25400" dir="5400000" algn="tl" rotWithShape="0">
              <a:srgbClr val="0E2A47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146304" tIns="237744" bIns="91440"/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C8D8E4"/>
                </a:solidFill>
                <a:latin typeface="微软雅黑"/>
                <a:ea typeface="微软雅黑"/>
              </a:rPr>
              <a:t>03</a:t>
            </a:r>
          </a:p>
          <a:p>
            <a:pPr algn="l">
              <a:lnSpc>
                <a:spcPct val="125000"/>
              </a:lnSpc>
              <a:spcBef>
                <a:spcPts val="200"/>
              </a:spcBef>
            </a:pPr>
            <a:r>
              <a:rPr sz="1700" b="1" i="0">
                <a:solidFill>
                  <a:srgbClr val="0E2A47"/>
                </a:solidFill>
                <a:latin typeface="微软雅黑"/>
                <a:ea typeface="微软雅黑"/>
              </a:rPr>
              <a:t>数据与复盘</a:t>
            </a:r>
          </a:p>
          <a:p>
            <a:pPr algn="l">
              <a:lnSpc>
                <a:spcPct val="142000"/>
              </a:lnSpc>
              <a:spcBef>
                <a:spcPts val="800"/>
              </a:spcBef>
            </a:pPr>
            <a:r>
              <a:rPr sz="1250" b="0" i="0">
                <a:solidFill>
                  <a:srgbClr val="5A6875"/>
                </a:solidFill>
                <a:latin typeface="微软雅黑"/>
                <a:ea typeface="微软雅黑"/>
              </a:rPr>
              <a:t>看留存、看转化，判断下一版改哪里；
用数据迭代，而不是凭感觉。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4864608"/>
            <a:ext cx="10543032" cy="932688"/>
          </a:xfrm>
          <a:prstGeom prst="roundRect">
            <a:avLst>
              <a:gd name="adj" fmla="val 8000"/>
            </a:avLst>
          </a:prstGeom>
          <a:solidFill>
            <a:srgbClr val="E9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146304" tIns="182880" bIns="91440"/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0F527D"/>
                </a:solidFill>
                <a:latin typeface="微软雅黑"/>
                <a:ea typeface="微软雅黑"/>
              </a:rPr>
              <a:t>三条的交点：既懂内容、又懂海外语境、还能看数据的人极少。我的全部准备都压在这个交点上。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925312"/>
            <a:ext cx="1054303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939EA9"/>
                </a:solidFill>
                <a:latin typeface="微软雅黑"/>
                <a:ea typeface="微软雅黑"/>
              </a:rPr>
              <a:t>来源：招聘平台岗位描述 · 国际传播方向从业者访谈（待补：10/27 指导老师面谈）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77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402336"/>
            <a:ext cx="969264" cy="292608"/>
          </a:xfrm>
          <a:prstGeom prst="roundRect">
            <a:avLst>
              <a:gd name="adj" fmla="val 50000"/>
            </a:avLst>
          </a:prstGeom>
          <a:solidFill>
            <a:srgbClr val="E9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  <a:r>
              <a:rPr sz="1100" b="1">
                <a:solidFill>
                  <a:srgbClr val="0F527D"/>
                </a:solidFill>
                <a:latin typeface="微软雅黑"/>
                <a:ea typeface="微软雅黑"/>
              </a:rPr>
              <a:t>自评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04672"/>
            <a:ext cx="10543032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0E2A47"/>
                </a:solidFill>
                <a:latin typeface="微软雅黑"/>
                <a:ea typeface="微软雅黑"/>
              </a:rPr>
              <a:t>我现在的水平 vs 岗位要求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44752"/>
            <a:ext cx="10543032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5A6875"/>
                </a:solidFill>
                <a:latin typeface="微软雅黑"/>
                <a:ea typeface="微软雅黑"/>
              </a:rPr>
              <a:t>五级量表自评，取目标岗位要求为对照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353312"/>
            <a:ext cx="566928" cy="41148"/>
          </a:xfrm>
          <a:prstGeom prst="rect">
            <a:avLst/>
          </a:prstGeom>
          <a:solidFill>
            <a:srgbClr val="177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104120" y="457200"/>
            <a:ext cx="274320" cy="82296"/>
          </a:xfrm>
          <a:prstGeom prst="roundRect">
            <a:avLst>
              <a:gd name="adj" fmla="val 50000"/>
            </a:avLst>
          </a:prstGeom>
          <a:solidFill>
            <a:srgbClr val="177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69880" y="457200"/>
            <a:ext cx="274320" cy="82296"/>
          </a:xfrm>
          <a:prstGeom prst="roundRect">
            <a:avLst>
              <a:gd name="adj" fmla="val 50000"/>
            </a:avLst>
          </a:prstGeom>
          <a:solidFill>
            <a:srgbClr val="DC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835640" y="457200"/>
            <a:ext cx="274320" cy="82296"/>
          </a:xfrm>
          <a:prstGeom prst="roundRect">
            <a:avLst>
              <a:gd name="adj" fmla="val 50000"/>
            </a:avLst>
          </a:prstGeom>
          <a:solidFill>
            <a:srgbClr val="DC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1201400" y="457200"/>
            <a:ext cx="274320" cy="82296"/>
          </a:xfrm>
          <a:prstGeom prst="roundRect">
            <a:avLst>
              <a:gd name="adj" fmla="val 50000"/>
            </a:avLst>
          </a:prstGeom>
          <a:solidFill>
            <a:srgbClr val="DC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0" y="566928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 i="0">
                <a:solidFill>
                  <a:srgbClr val="939EA9"/>
                </a:solidFill>
                <a:latin typeface="微软雅黑"/>
                <a:ea typeface="微软雅黑"/>
              </a:rPr>
              <a:t>设定目标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18520" y="6327648"/>
            <a:ext cx="8229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 i="0">
                <a:solidFill>
                  <a:srgbClr val="939EA9"/>
                </a:solidFill>
                <a:latin typeface="微软雅黑"/>
                <a:ea typeface="微软雅黑"/>
              </a:rPr>
              <a:t>05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638251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 i="0">
                <a:solidFill>
                  <a:srgbClr val="939EA9"/>
                </a:solidFill>
                <a:latin typeface="微软雅黑"/>
                <a:ea typeface="微软雅黑"/>
              </a:rPr>
              <a:t>苏彤彤 · 成长赛道 · 生涯发展展示</a:t>
            </a:r>
          </a:p>
        </p:txBody>
      </p:sp>
      <p:graphicFrame>
        <p:nvGraphicFramePr>
          <p:cNvPr id="14" name="Chart 13"/>
          <p:cNvGraphicFramePr>
            <a:graphicFrameLocks noGrp="1"/>
          </p:cNvGraphicFramePr>
          <p:nvPr/>
        </p:nvGraphicFramePr>
        <p:xfrm>
          <a:off x="822960" y="2084831"/>
          <a:ext cx="5989320" cy="391363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5" name="Rounded Rectangle 14"/>
          <p:cNvSpPr/>
          <p:nvPr/>
        </p:nvSpPr>
        <p:spPr>
          <a:xfrm>
            <a:off x="7269480" y="2084831"/>
            <a:ext cx="4114800" cy="1170432"/>
          </a:xfrm>
          <a:prstGeom prst="roundRect">
            <a:avLst>
              <a:gd name="adj" fmla="val 7000"/>
            </a:avLst>
          </a:prstGeom>
          <a:solidFill>
            <a:srgbClr val="E9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182880" bIns="91440"/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0E2A47"/>
                </a:solidFill>
                <a:latin typeface="微软雅黑"/>
                <a:ea typeface="微软雅黑"/>
              </a:rPr>
              <a:t>已经站得住</a:t>
            </a:r>
          </a:p>
          <a:p>
            <a:pPr algn="l">
              <a:lnSpc>
                <a:spcPct val="142000"/>
              </a:lnSpc>
              <a:spcBef>
                <a:spcPts val="500"/>
              </a:spcBef>
            </a:pPr>
            <a:r>
              <a:rPr sz="1250" b="0" i="0">
                <a:solidFill>
                  <a:srgbClr val="5A6875"/>
                </a:solidFill>
                <a:latin typeface="微软雅黑"/>
                <a:ea typeface="微软雅黑"/>
              </a:rPr>
              <a:t>创意策划、AI 工具应用：不输要求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269480" y="2231135"/>
            <a:ext cx="41148" cy="877824"/>
          </a:xfrm>
          <a:prstGeom prst="rect">
            <a:avLst/>
          </a:prstGeom>
          <a:solidFill>
            <a:srgbClr val="177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269480" y="3401568"/>
            <a:ext cx="4114800" cy="1170432"/>
          </a:xfrm>
          <a:prstGeom prst="roundRect">
            <a:avLst>
              <a:gd name="adj" fmla="val 7000"/>
            </a:avLst>
          </a:prstGeom>
          <a:solidFill>
            <a:srgbClr val="FBE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182880" bIns="91440"/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C4703C"/>
                </a:solidFill>
                <a:latin typeface="微软雅黑"/>
                <a:ea typeface="微软雅黑"/>
              </a:rPr>
              <a:t>明显还不够</a:t>
            </a:r>
          </a:p>
          <a:p>
            <a:pPr algn="l">
              <a:lnSpc>
                <a:spcPct val="142000"/>
              </a:lnSpc>
              <a:spcBef>
                <a:spcPts val="500"/>
              </a:spcBef>
            </a:pPr>
            <a:r>
              <a:rPr sz="1250" b="0" i="0">
                <a:solidFill>
                  <a:srgbClr val="5A6875"/>
                </a:solidFill>
                <a:latin typeface="微软雅黑"/>
                <a:ea typeface="微软雅黑"/>
              </a:rPr>
              <a:t>数据分析：差距最大，已列入近期行动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269480" y="3547872"/>
            <a:ext cx="41148" cy="877824"/>
          </a:xfrm>
          <a:prstGeom prst="rect">
            <a:avLst/>
          </a:prstGeom>
          <a:solidFill>
            <a:srgbClr val="C47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269480" y="4718304"/>
            <a:ext cx="4114800" cy="1280160"/>
          </a:xfrm>
          <a:prstGeom prst="roundRect">
            <a:avLst>
              <a:gd name="adj" fmla="val 7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182880" bIns="91440"/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0E2A47"/>
                </a:solidFill>
                <a:latin typeface="微软雅黑"/>
                <a:ea typeface="微软雅黑"/>
              </a:rPr>
              <a:t>我的判断</a:t>
            </a:r>
          </a:p>
          <a:p>
            <a:pPr algn="l">
              <a:lnSpc>
                <a:spcPct val="142000"/>
              </a:lnSpc>
              <a:spcBef>
                <a:spcPts val="500"/>
              </a:spcBef>
            </a:pPr>
            <a:r>
              <a:rPr sz="1200" b="0" i="0">
                <a:solidFill>
                  <a:srgbClr val="5A6875"/>
                </a:solidFill>
                <a:latin typeface="微软雅黑"/>
                <a:ea typeface="微软雅黑"/>
              </a:rPr>
              <a:t>补齐「数据分析」一块，比把长板再拉长更划算——它决定了创意能不能被验证。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269480" y="4864608"/>
            <a:ext cx="41148" cy="987552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77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402336"/>
            <a:ext cx="969264" cy="292608"/>
          </a:xfrm>
          <a:prstGeom prst="roundRect">
            <a:avLst>
              <a:gd name="adj" fmla="val 50000"/>
            </a:avLst>
          </a:prstGeom>
          <a:solidFill>
            <a:srgbClr val="E9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  <a:r>
              <a:rPr sz="1100" b="1">
                <a:solidFill>
                  <a:srgbClr val="0F527D"/>
                </a:solidFill>
                <a:latin typeface="微软雅黑"/>
                <a:ea typeface="微软雅黑"/>
              </a:rPr>
              <a:t>取舍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04672"/>
            <a:ext cx="10543032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0E2A47"/>
                </a:solidFill>
                <a:latin typeface="微软雅黑"/>
                <a:ea typeface="微软雅黑"/>
              </a:rPr>
              <a:t>四条路都看过，为什么留下这两条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44752"/>
            <a:ext cx="10543032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5A6875"/>
                </a:solidFill>
                <a:latin typeface="微软雅黑"/>
                <a:ea typeface="微软雅黑"/>
              </a:rPr>
              <a:t>不是因为别的不好，是因为证据站在这两边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353312"/>
            <a:ext cx="566928" cy="41148"/>
          </a:xfrm>
          <a:prstGeom prst="rect">
            <a:avLst/>
          </a:prstGeom>
          <a:solidFill>
            <a:srgbClr val="177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104120" y="457200"/>
            <a:ext cx="274320" cy="82296"/>
          </a:xfrm>
          <a:prstGeom prst="roundRect">
            <a:avLst>
              <a:gd name="adj" fmla="val 50000"/>
            </a:avLst>
          </a:prstGeom>
          <a:solidFill>
            <a:srgbClr val="177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69880" y="457200"/>
            <a:ext cx="274320" cy="82296"/>
          </a:xfrm>
          <a:prstGeom prst="roundRect">
            <a:avLst>
              <a:gd name="adj" fmla="val 50000"/>
            </a:avLst>
          </a:prstGeom>
          <a:solidFill>
            <a:srgbClr val="DC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835640" y="457200"/>
            <a:ext cx="274320" cy="82296"/>
          </a:xfrm>
          <a:prstGeom prst="roundRect">
            <a:avLst>
              <a:gd name="adj" fmla="val 50000"/>
            </a:avLst>
          </a:prstGeom>
          <a:solidFill>
            <a:srgbClr val="DC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1201400" y="457200"/>
            <a:ext cx="274320" cy="82296"/>
          </a:xfrm>
          <a:prstGeom prst="roundRect">
            <a:avLst>
              <a:gd name="adj" fmla="val 50000"/>
            </a:avLst>
          </a:prstGeom>
          <a:solidFill>
            <a:srgbClr val="DC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0" y="566928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 i="0">
                <a:solidFill>
                  <a:srgbClr val="939EA9"/>
                </a:solidFill>
                <a:latin typeface="微软雅黑"/>
                <a:ea typeface="微软雅黑"/>
              </a:rPr>
              <a:t>设定目标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18520" y="6327648"/>
            <a:ext cx="8229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 i="0">
                <a:solidFill>
                  <a:srgbClr val="939EA9"/>
                </a:solidFill>
                <a:latin typeface="微软雅黑"/>
                <a:ea typeface="微软雅黑"/>
              </a:rPr>
              <a:t>06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638251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 i="0">
                <a:solidFill>
                  <a:srgbClr val="939EA9"/>
                </a:solidFill>
                <a:latin typeface="微软雅黑"/>
                <a:ea typeface="微软雅黑"/>
              </a:rPr>
              <a:t>苏彤彤 · 成长赛道 · 生涯发展展示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2148840"/>
            <a:ext cx="10543032" cy="8412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C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92608" rIns="146304" tIns="109728" bIns="91440"/>
          <a:lstStyle/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5A6875"/>
                </a:solidFill>
                <a:latin typeface="微软雅黑"/>
                <a:ea typeface="微软雅黑"/>
              </a:rPr>
              <a:t>内容 / 新媒体　</a:t>
            </a:r>
            <a:r>
              <a:rPr sz="1250">
                <a:solidFill>
                  <a:srgbClr val="5A6875"/>
                </a:solidFill>
                <a:latin typeface="微软雅黑"/>
                <a:ea typeface="微软雅黑"/>
              </a:rPr>
              <a:t>能力最通用，但同质竞争激烈——我做电影分析时踩的正是这个坑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2276856"/>
            <a:ext cx="41148" cy="585216"/>
          </a:xfrm>
          <a:prstGeom prst="rect">
            <a:avLst/>
          </a:prstGeom>
          <a:solidFill>
            <a:srgbClr val="939E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646920" y="2368296"/>
            <a:ext cx="1719072" cy="402336"/>
          </a:xfrm>
          <a:prstGeom prst="roundRect">
            <a:avLst>
              <a:gd name="adj" fmla="val 40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  <a:r>
              <a:rPr sz="1200" b="1">
                <a:solidFill>
                  <a:srgbClr val="939EA9"/>
                </a:solidFill>
                <a:latin typeface="微软雅黑"/>
                <a:ea typeface="微软雅黑"/>
              </a:rPr>
              <a:t>不作目标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118104"/>
            <a:ext cx="10543032" cy="841248"/>
          </a:xfrm>
          <a:prstGeom prst="roundRect">
            <a:avLst>
              <a:gd name="adj" fmla="val 10000"/>
            </a:avLst>
          </a:prstGeom>
          <a:solidFill>
            <a:srgbClr val="FBE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92608" rIns="146304" tIns="109728" bIns="91440"/>
          <a:lstStyle/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0E2A47"/>
                </a:solidFill>
                <a:latin typeface="微软雅黑"/>
                <a:ea typeface="微软雅黑"/>
              </a:rPr>
              <a:t>广告 / 营销公关　</a:t>
            </a:r>
            <a:r>
              <a:rPr sz="1250">
                <a:solidFill>
                  <a:srgbClr val="5A6875"/>
                </a:solidFill>
                <a:latin typeface="微软雅黑"/>
                <a:ea typeface="微软雅黑"/>
              </a:rPr>
              <a:t>Carnival 实践课后很感兴趣：独立交出一份中文命名方案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3246120"/>
            <a:ext cx="41148" cy="585216"/>
          </a:xfrm>
          <a:prstGeom prst="rect">
            <a:avLst/>
          </a:prstGeom>
          <a:solidFill>
            <a:srgbClr val="C47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646920" y="3337560"/>
            <a:ext cx="1719072" cy="402336"/>
          </a:xfrm>
          <a:prstGeom prst="roundRect">
            <a:avLst>
              <a:gd name="adj" fmla="val 40000"/>
            </a:avLst>
          </a:prstGeom>
          <a:solidFill>
            <a:srgbClr val="C47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第二目标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4087368"/>
            <a:ext cx="10543032" cy="8412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C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92608" rIns="146304" tIns="109728" bIns="91440"/>
          <a:lstStyle/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5A6875"/>
                </a:solidFill>
                <a:latin typeface="微软雅黑"/>
                <a:ea typeface="微软雅黑"/>
              </a:rPr>
              <a:t>互联网产品运营　</a:t>
            </a:r>
            <a:r>
              <a:rPr sz="1250">
                <a:solidFill>
                  <a:srgbClr val="5A6875"/>
                </a:solidFill>
                <a:latin typeface="微软雅黑"/>
                <a:ea typeface="微软雅黑"/>
              </a:rPr>
              <a:t>要过需求评审，周期长；我缺产品侧的协作经验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4215384"/>
            <a:ext cx="41148" cy="585216"/>
          </a:xfrm>
          <a:prstGeom prst="rect">
            <a:avLst/>
          </a:prstGeom>
          <a:solidFill>
            <a:srgbClr val="939E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646920" y="4306824"/>
            <a:ext cx="1719072" cy="402336"/>
          </a:xfrm>
          <a:prstGeom prst="roundRect">
            <a:avLst>
              <a:gd name="adj" fmla="val 40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  <a:r>
              <a:rPr sz="1200" b="1">
                <a:solidFill>
                  <a:srgbClr val="939EA9"/>
                </a:solidFill>
                <a:latin typeface="微软雅黑"/>
                <a:ea typeface="微软雅黑"/>
              </a:rPr>
              <a:t>排除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" y="5056632"/>
            <a:ext cx="10543032" cy="841248"/>
          </a:xfrm>
          <a:prstGeom prst="roundRect">
            <a:avLst>
              <a:gd name="adj" fmla="val 10000"/>
            </a:avLst>
          </a:prstGeom>
          <a:solidFill>
            <a:srgbClr val="E9F2F9"/>
          </a:solidFill>
          <a:ln>
            <a:noFill/>
          </a:ln>
          <a:effectLst/>
          <a:effectLst>
            <a:outerShdw blurRad="127000" dist="25400" dir="5400000" algn="tl" rotWithShape="0">
              <a:srgbClr val="0E2A47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92608" rIns="146304" tIns="109728" bIns="91440"/>
          <a:lstStyle/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0E2A47"/>
                </a:solidFill>
                <a:latin typeface="微软雅黑"/>
                <a:ea typeface="微软雅黑"/>
              </a:rPr>
              <a:t>国际传播 · 文化出海　</a:t>
            </a:r>
            <a:r>
              <a:rPr sz="1250">
                <a:solidFill>
                  <a:srgbClr val="5A6875"/>
                </a:solidFill>
                <a:latin typeface="微软雅黑"/>
                <a:ea typeface="微软雅黑"/>
              </a:rPr>
              <a:t>我已经在做，有老师背书，且外语在这里是门槛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" y="5184648"/>
            <a:ext cx="41148" cy="585216"/>
          </a:xfrm>
          <a:prstGeom prst="rect">
            <a:avLst/>
          </a:prstGeom>
          <a:solidFill>
            <a:srgbClr val="177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646920" y="5276088"/>
            <a:ext cx="1719072" cy="402336"/>
          </a:xfrm>
          <a:prstGeom prst="roundRect">
            <a:avLst>
              <a:gd name="adj" fmla="val 40000"/>
            </a:avLst>
          </a:prstGeom>
          <a:solidFill>
            <a:srgbClr val="177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第一目标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6053328"/>
            <a:ext cx="1054303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>
                <a:solidFill>
                  <a:srgbClr val="0E2A47"/>
                </a:solidFill>
                <a:latin typeface="微软雅黑"/>
                <a:ea typeface="微软雅黑"/>
              </a:rPr>
              <a:t>四条路都需要创意——单凭「我喜欢创意」选不出来。决定取舍的是证据：我已经踩进去的两条留下，没踩过的让位。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77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402336"/>
            <a:ext cx="969264" cy="292608"/>
          </a:xfrm>
          <a:prstGeom prst="roundRect">
            <a:avLst>
              <a:gd name="adj" fmla="val 50000"/>
            </a:avLst>
          </a:prstGeom>
          <a:solidFill>
            <a:srgbClr val="E9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  <a:r>
              <a:rPr sz="1100" b="1">
                <a:solidFill>
                  <a:srgbClr val="0F527D"/>
                </a:solidFill>
                <a:latin typeface="微软雅黑"/>
                <a:ea typeface="微软雅黑"/>
              </a:rPr>
              <a:t>行动 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04672"/>
            <a:ext cx="10543032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0E2A47"/>
                </a:solidFill>
                <a:latin typeface="微软雅黑"/>
                <a:ea typeface="微软雅黑"/>
              </a:rPr>
              <a:t>先做起来：第一期正在制作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353312"/>
            <a:ext cx="566928" cy="41148"/>
          </a:xfrm>
          <a:prstGeom prst="rect">
            <a:avLst/>
          </a:prstGeom>
          <a:solidFill>
            <a:srgbClr val="177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104120" y="457200"/>
            <a:ext cx="274320" cy="82296"/>
          </a:xfrm>
          <a:prstGeom prst="roundRect">
            <a:avLst>
              <a:gd name="adj" fmla="val 50000"/>
            </a:avLst>
          </a:prstGeom>
          <a:solidFill>
            <a:srgbClr val="177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469880" y="457200"/>
            <a:ext cx="274320" cy="82296"/>
          </a:xfrm>
          <a:prstGeom prst="roundRect">
            <a:avLst>
              <a:gd name="adj" fmla="val 50000"/>
            </a:avLst>
          </a:prstGeom>
          <a:solidFill>
            <a:srgbClr val="177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835640" y="457200"/>
            <a:ext cx="274320" cy="82296"/>
          </a:xfrm>
          <a:prstGeom prst="roundRect">
            <a:avLst>
              <a:gd name="adj" fmla="val 50000"/>
            </a:avLst>
          </a:prstGeom>
          <a:solidFill>
            <a:srgbClr val="DC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1201400" y="457200"/>
            <a:ext cx="274320" cy="82296"/>
          </a:xfrm>
          <a:prstGeom prst="roundRect">
            <a:avLst>
              <a:gd name="adj" fmla="val 50000"/>
            </a:avLst>
          </a:prstGeom>
          <a:solidFill>
            <a:srgbClr val="DC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0" y="566928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 i="0">
                <a:solidFill>
                  <a:srgbClr val="939EA9"/>
                </a:solidFill>
                <a:latin typeface="微软雅黑"/>
                <a:ea typeface="微软雅黑"/>
              </a:rPr>
              <a:t>行动证据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18520" y="6327648"/>
            <a:ext cx="8229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 i="0">
                <a:solidFill>
                  <a:srgbClr val="939EA9"/>
                </a:solidFill>
                <a:latin typeface="微软雅黑"/>
                <a:ea typeface="微软雅黑"/>
              </a:rPr>
              <a:t>07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638251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 i="0">
                <a:solidFill>
                  <a:srgbClr val="939EA9"/>
                </a:solidFill>
                <a:latin typeface="微软雅黑"/>
                <a:ea typeface="微软雅黑"/>
              </a:rPr>
              <a:t>苏彤彤 · 成长赛道 · 生涯发展展示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2121408"/>
            <a:ext cx="4892040" cy="1874519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CE3EA"/>
            </a:solidFill>
          </a:ln>
          <a:effectLst/>
          <a:effectLst>
            <a:outerShdw blurRad="101600" dist="19050" dir="5400000" algn="tl" rotWithShape="0">
              <a:srgbClr val="0E2A47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182880" bIns="91440"/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E2A47"/>
                </a:solidFill>
                <a:latin typeface="微软雅黑"/>
                <a:ea typeface="微软雅黑"/>
              </a:rPr>
              <a:t>第一期怎么做</a:t>
            </a:r>
          </a:p>
          <a:p>
            <a:pPr algn="l">
              <a:lnSpc>
                <a:spcPct val="142000"/>
              </a:lnSpc>
              <a:spcBef>
                <a:spcPts val="500"/>
              </a:spcBef>
            </a:pPr>
            <a:r>
              <a:rPr sz="1250" b="0" i="0">
                <a:solidFill>
                  <a:srgbClr val="5A6875"/>
                </a:solidFill>
                <a:latin typeface="微软雅黑"/>
                <a:ea typeface="微软雅黑"/>
              </a:rPr>
              <a:t>先定主题（悬疑推理 / 爱护动物 / 传统文化）；再选主题下的中国书籍与作者；用一位海外知名作家的同类作品作引子；然后写脚本、制作，部分画面由 AI 生成，英文配音我自己来。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2267712"/>
            <a:ext cx="41148" cy="1581911"/>
          </a:xfrm>
          <a:prstGeom prst="rect">
            <a:avLst/>
          </a:prstGeom>
          <a:solidFill>
            <a:srgbClr val="177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45352" y="2121408"/>
            <a:ext cx="5120640" cy="1874519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CE3EA"/>
            </a:solidFill>
          </a:ln>
          <a:effectLst/>
          <a:effectLst>
            <a:outerShdw blurRad="101600" dist="19050" dir="5400000" algn="tl" rotWithShape="0">
              <a:srgbClr val="0E2A47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182880" bIns="91440"/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C4703C"/>
                </a:solidFill>
                <a:latin typeface="微软雅黑"/>
                <a:ea typeface="微软雅黑"/>
              </a:rPr>
              <a:t>为什么这样排</a:t>
            </a:r>
          </a:p>
          <a:p>
            <a:pPr algn="l">
              <a:lnSpc>
                <a:spcPct val="142000"/>
              </a:lnSpc>
              <a:spcBef>
                <a:spcPts val="500"/>
              </a:spcBef>
            </a:pPr>
            <a:r>
              <a:rPr sz="1250" b="0" i="0">
                <a:solidFill>
                  <a:srgbClr val="5A6875"/>
                </a:solidFill>
                <a:latin typeface="微软雅黑"/>
                <a:ea typeface="微软雅黑"/>
              </a:rPr>
              <a:t>中国书在海外没有认知基础，直接讲没人点开。先用他们熟悉的作家把人引进来，再讲我想讲的书。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45352" y="2267712"/>
            <a:ext cx="41148" cy="1581911"/>
          </a:xfrm>
          <a:prstGeom prst="rect">
            <a:avLst/>
          </a:prstGeom>
          <a:solidFill>
            <a:srgbClr val="C47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22960" y="4224528"/>
            <a:ext cx="10543032" cy="1170432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146304" tIns="201168" bIns="91440"/>
          <a:lstStyle/>
          <a:p>
            <a:pPr algn="l">
              <a:lnSpc>
                <a:spcPct val="120000"/>
              </a:lnSpc>
            </a:pPr>
            <a:r>
              <a:rPr sz="1250" b="1" i="0">
                <a:solidFill>
                  <a:srgbClr val="939EA9"/>
                </a:solidFill>
                <a:latin typeface="微软雅黑"/>
                <a:ea typeface="微软雅黑"/>
              </a:rPr>
              <a:t>这一环的意义</a:t>
            </a:r>
          </a:p>
          <a:p>
            <a:pPr algn="l">
              <a:lnSpc>
                <a:spcPct val="140000"/>
              </a:lnSpc>
              <a:spcBef>
                <a:spcPts val="400"/>
              </a:spcBef>
            </a:pPr>
            <a:r>
              <a:rPr sz="1450" b="0" i="0">
                <a:solidFill>
                  <a:srgbClr val="0E2A47"/>
                </a:solidFill>
                <a:latin typeface="微软雅黑"/>
                <a:ea typeface="微软雅黑"/>
              </a:rPr>
              <a:t>它把「我对国际传播感兴趣」变成了一件可验证的事。没有这个账号，我连该问老师什么问题都不知道。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5559552"/>
            <a:ext cx="10543032" cy="658368"/>
          </a:xfrm>
          <a:prstGeom prst="roundRect">
            <a:avLst>
              <a:gd name="adj" fmla="val 5000"/>
            </a:avLst>
          </a:prstGeom>
          <a:solidFill>
            <a:srgbClr val="F4F7FA"/>
          </a:solidFill>
          <a:ln w="15875">
            <a:solidFill>
              <a:srgbClr val="B9C4CE"/>
            </a:solidFill>
            <a:prstDash val="sysDot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  <a:r>
              <a:rPr sz="1200" b="1">
                <a:solidFill>
                  <a:srgbClr val="5A6875"/>
                </a:solidFill>
                <a:latin typeface="微软雅黑"/>
                <a:ea typeface="微软雅黑"/>
              </a:rPr>
              <a:t>此处嵌入成片片段 15–30 秒　·　第一期制作中，定稿后放入（数据待回）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77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402336"/>
            <a:ext cx="969264" cy="292608"/>
          </a:xfrm>
          <a:prstGeom prst="roundRect">
            <a:avLst>
              <a:gd name="adj" fmla="val 50000"/>
            </a:avLst>
          </a:prstGeom>
          <a:solidFill>
            <a:srgbClr val="E9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  <a:r>
              <a:rPr sz="1100" b="1">
                <a:solidFill>
                  <a:srgbClr val="0F527D"/>
                </a:solidFill>
                <a:latin typeface="微软雅黑"/>
                <a:ea typeface="微软雅黑"/>
              </a:rPr>
              <a:t>行动 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04672"/>
            <a:ext cx="10543032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0E2A47"/>
                </a:solidFill>
                <a:latin typeface="微软雅黑"/>
                <a:ea typeface="微软雅黑"/>
              </a:rPr>
              <a:t>请教之后，我把赛道换了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353312"/>
            <a:ext cx="566928" cy="41148"/>
          </a:xfrm>
          <a:prstGeom prst="rect">
            <a:avLst/>
          </a:prstGeom>
          <a:solidFill>
            <a:srgbClr val="177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104120" y="457200"/>
            <a:ext cx="274320" cy="82296"/>
          </a:xfrm>
          <a:prstGeom prst="roundRect">
            <a:avLst>
              <a:gd name="adj" fmla="val 50000"/>
            </a:avLst>
          </a:prstGeom>
          <a:solidFill>
            <a:srgbClr val="177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469880" y="457200"/>
            <a:ext cx="274320" cy="82296"/>
          </a:xfrm>
          <a:prstGeom prst="roundRect">
            <a:avLst>
              <a:gd name="adj" fmla="val 50000"/>
            </a:avLst>
          </a:prstGeom>
          <a:solidFill>
            <a:srgbClr val="177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835640" y="457200"/>
            <a:ext cx="274320" cy="82296"/>
          </a:xfrm>
          <a:prstGeom prst="roundRect">
            <a:avLst>
              <a:gd name="adj" fmla="val 50000"/>
            </a:avLst>
          </a:prstGeom>
          <a:solidFill>
            <a:srgbClr val="DC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1201400" y="457200"/>
            <a:ext cx="274320" cy="82296"/>
          </a:xfrm>
          <a:prstGeom prst="roundRect">
            <a:avLst>
              <a:gd name="adj" fmla="val 50000"/>
            </a:avLst>
          </a:prstGeom>
          <a:solidFill>
            <a:srgbClr val="DC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0" y="566928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 i="0">
                <a:solidFill>
                  <a:srgbClr val="939EA9"/>
                </a:solidFill>
                <a:latin typeface="微软雅黑"/>
                <a:ea typeface="微软雅黑"/>
              </a:rPr>
              <a:t>行动证据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18520" y="6327648"/>
            <a:ext cx="8229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 i="0">
                <a:solidFill>
                  <a:srgbClr val="939EA9"/>
                </a:solidFill>
                <a:latin typeface="微软雅黑"/>
                <a:ea typeface="微软雅黑"/>
              </a:rPr>
              <a:t>08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638251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 i="0">
                <a:solidFill>
                  <a:srgbClr val="939EA9"/>
                </a:solidFill>
                <a:latin typeface="微软雅黑"/>
                <a:ea typeface="微软雅黑"/>
              </a:rPr>
              <a:t>苏彤彤 · 成长赛道 · 生涯发展展示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2121408"/>
            <a:ext cx="4892040" cy="2057400"/>
          </a:xfrm>
          <a:prstGeom prst="roundRect">
            <a:avLst>
              <a:gd name="adj" fmla="val 7000"/>
            </a:avLst>
          </a:prstGeom>
          <a:solidFill>
            <a:srgbClr val="F4F7FA"/>
          </a:solidFill>
          <a:ln w="12700">
            <a:solidFill>
              <a:srgbClr val="DCE3EA"/>
            </a:solidFill>
          </a:ln>
          <a:effectLst/>
          <a:effectLst>
            <a:outerShdw blurRad="101600" dist="19050" dir="5400000" algn="tl" rotWithShape="0">
              <a:srgbClr val="0E2A47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182880" bIns="91440"/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939EA9"/>
                </a:solidFill>
                <a:latin typeface="微软雅黑"/>
                <a:ea typeface="微软雅黑"/>
              </a:rPr>
              <a:t>原来的赛道</a:t>
            </a:r>
          </a:p>
          <a:p>
            <a:pPr algn="l">
              <a:lnSpc>
                <a:spcPct val="142000"/>
              </a:lnSpc>
              <a:spcBef>
                <a:spcPts val="500"/>
              </a:spcBef>
            </a:pPr>
            <a:r>
              <a:rPr sz="1250" b="0" i="0">
                <a:solidFill>
                  <a:srgbClr val="5A6875"/>
                </a:solidFill>
                <a:latin typeface="微软雅黑"/>
                <a:ea typeface="微软雅黑"/>
              </a:rPr>
              <a:t>电影分析，面向中文观众。
同类内容太多，同质化严重，做不出风格。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2267712"/>
            <a:ext cx="41148" cy="1764792"/>
          </a:xfrm>
          <a:prstGeom prst="rect">
            <a:avLst/>
          </a:prstGeom>
          <a:solidFill>
            <a:srgbClr val="939E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45352" y="2121408"/>
            <a:ext cx="5120640" cy="2057400"/>
          </a:xfrm>
          <a:prstGeom prst="roundRect">
            <a:avLst>
              <a:gd name="adj" fmla="val 7000"/>
            </a:avLst>
          </a:prstGeom>
          <a:solidFill>
            <a:srgbClr val="E9F2F9"/>
          </a:solidFill>
          <a:ln w="12700">
            <a:solidFill>
              <a:srgbClr val="DCE3EA"/>
            </a:solidFill>
          </a:ln>
          <a:effectLst/>
          <a:effectLst>
            <a:outerShdw blurRad="101600" dist="19050" dir="5400000" algn="tl" rotWithShape="0">
              <a:srgbClr val="0E2A47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182880" bIns="91440"/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E2A47"/>
                </a:solidFill>
                <a:latin typeface="微软雅黑"/>
                <a:ea typeface="微软雅黑"/>
              </a:rPr>
              <a:t>换后的赛道</a:t>
            </a:r>
          </a:p>
          <a:p>
            <a:pPr algn="l">
              <a:lnSpc>
                <a:spcPct val="142000"/>
              </a:lnSpc>
              <a:spcBef>
                <a:spcPts val="500"/>
              </a:spcBef>
            </a:pPr>
            <a:r>
              <a:rPr sz="1250" b="0" i="0">
                <a:solidFill>
                  <a:srgbClr val="5A6875"/>
                </a:solidFill>
                <a:latin typeface="微软雅黑"/>
                <a:ea typeface="微软雅黑"/>
              </a:rPr>
              <a:t>向海外观众推介中国书籍与作者。
外语是我的长项，这条赛道上能做好的人很少。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45352" y="2267712"/>
            <a:ext cx="41148" cy="1764792"/>
          </a:xfrm>
          <a:prstGeom prst="rect">
            <a:avLst/>
          </a:prstGeom>
          <a:solidFill>
            <a:srgbClr val="177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17" name="Right Arrow 16"/>
          <p:cNvSpPr/>
          <p:nvPr/>
        </p:nvSpPr>
        <p:spPr>
          <a:xfrm>
            <a:off x="5779008" y="2889504"/>
            <a:ext cx="402336" cy="512064"/>
          </a:xfrm>
          <a:prstGeom prst="rightArrow">
            <a:avLst/>
          </a:prstGeom>
          <a:solidFill>
            <a:srgbClr val="177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2960" y="4370832"/>
            <a:ext cx="10543032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146304" tIns="219456" bIns="91440"/>
          <a:lstStyle/>
          <a:p>
            <a:pPr algn="l">
              <a:lnSpc>
                <a:spcPct val="130000"/>
              </a:lnSpc>
            </a:pPr>
            <a:r>
              <a:rPr sz="1600" b="1" i="0">
                <a:solidFill>
                  <a:srgbClr val="0E2A47"/>
                </a:solidFill>
                <a:latin typeface="微软雅黑"/>
                <a:ea typeface="微软雅黑"/>
              </a:rPr>
              <a:t>换的依据不是「我觉得这个更有意思」，而是两件事：老师的建议，加上我的外语特长。</a:t>
            </a:r>
          </a:p>
          <a:p>
            <a:pPr algn="l">
              <a:lnSpc>
                <a:spcPct val="140000"/>
              </a:lnSpc>
              <a:spcBef>
                <a:spcPts val="600"/>
              </a:spcBef>
            </a:pPr>
            <a:r>
              <a:rPr sz="1300" b="0" i="0">
                <a:solidFill>
                  <a:srgbClr val="5A6875"/>
                </a:solidFill>
                <a:latin typeface="微软雅黑"/>
                <a:ea typeface="微软雅黑"/>
              </a:rPr>
              <a:t>同一个账号、同一套制作能力，换的是受众与判断标准——这是我第一次为职业目标做取舍。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888736"/>
            <a:ext cx="1054303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939EA9"/>
                </a:solidFill>
                <a:latin typeface="微软雅黑"/>
                <a:ea typeface="微软雅黑"/>
              </a:rPr>
              <a:t>证据：相关老师的咨询建议（第三方背书）　|　待补：成片投放后的前 48 小时数据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77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402336"/>
            <a:ext cx="969264" cy="292608"/>
          </a:xfrm>
          <a:prstGeom prst="roundRect">
            <a:avLst>
              <a:gd name="adj" fmla="val 50000"/>
            </a:avLst>
          </a:prstGeom>
          <a:solidFill>
            <a:srgbClr val="E9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  <a:r>
              <a:rPr sz="1100" b="1">
                <a:solidFill>
                  <a:srgbClr val="0F527D"/>
                </a:solidFill>
                <a:latin typeface="微软雅黑"/>
                <a:ea typeface="微软雅黑"/>
              </a:rPr>
              <a:t>行动 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04672"/>
            <a:ext cx="10543032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0E2A47"/>
                </a:solidFill>
                <a:latin typeface="微软雅黑"/>
                <a:ea typeface="微软雅黑"/>
              </a:rPr>
              <a:t>七个环节，一条固定流程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44752"/>
            <a:ext cx="10543032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5A6875"/>
                </a:solidFill>
                <a:latin typeface="微软雅黑"/>
                <a:ea typeface="微软雅黑"/>
              </a:rPr>
              <a:t>从「能做一条」到「能稳定做」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353312"/>
            <a:ext cx="566928" cy="41148"/>
          </a:xfrm>
          <a:prstGeom prst="rect">
            <a:avLst/>
          </a:prstGeom>
          <a:solidFill>
            <a:srgbClr val="177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104120" y="457200"/>
            <a:ext cx="274320" cy="82296"/>
          </a:xfrm>
          <a:prstGeom prst="roundRect">
            <a:avLst>
              <a:gd name="adj" fmla="val 50000"/>
            </a:avLst>
          </a:prstGeom>
          <a:solidFill>
            <a:srgbClr val="177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69880" y="457200"/>
            <a:ext cx="274320" cy="82296"/>
          </a:xfrm>
          <a:prstGeom prst="roundRect">
            <a:avLst>
              <a:gd name="adj" fmla="val 50000"/>
            </a:avLst>
          </a:prstGeom>
          <a:solidFill>
            <a:srgbClr val="177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835640" y="457200"/>
            <a:ext cx="274320" cy="82296"/>
          </a:xfrm>
          <a:prstGeom prst="roundRect">
            <a:avLst>
              <a:gd name="adj" fmla="val 50000"/>
            </a:avLst>
          </a:prstGeom>
          <a:solidFill>
            <a:srgbClr val="DC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1201400" y="457200"/>
            <a:ext cx="274320" cy="82296"/>
          </a:xfrm>
          <a:prstGeom prst="roundRect">
            <a:avLst>
              <a:gd name="adj" fmla="val 50000"/>
            </a:avLst>
          </a:prstGeom>
          <a:solidFill>
            <a:srgbClr val="DC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0" y="566928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 i="0">
                <a:solidFill>
                  <a:srgbClr val="939EA9"/>
                </a:solidFill>
                <a:latin typeface="微软雅黑"/>
                <a:ea typeface="微软雅黑"/>
              </a:rPr>
              <a:t>行动证据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18520" y="6327648"/>
            <a:ext cx="8229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 i="0">
                <a:solidFill>
                  <a:srgbClr val="939EA9"/>
                </a:solidFill>
                <a:latin typeface="微软雅黑"/>
                <a:ea typeface="微软雅黑"/>
              </a:rPr>
              <a:t>09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638251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 i="0">
                <a:solidFill>
                  <a:srgbClr val="939EA9"/>
                </a:solidFill>
                <a:latin typeface="微软雅黑"/>
                <a:ea typeface="微软雅黑"/>
              </a:rPr>
              <a:t>苏彤彤 · 成长赛道 · 生涯发展展示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2084831"/>
            <a:ext cx="10543032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3EA"/>
            </a:solidFill>
          </a:ln>
          <a:effectLst/>
          <a:effectLst>
            <a:outerShdw blurRad="101600" dist="25400" dir="5400000" algn="tl" rotWithShape="0">
              <a:srgbClr val="0E2A47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92608" rIns="146304" tIns="146304" bIns="91440"/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E2A47"/>
                </a:solidFill>
                <a:latin typeface="微软雅黑"/>
                <a:ea typeface="微软雅黑"/>
              </a:rPr>
              <a:t>AI 落在三处</a:t>
            </a:r>
          </a:p>
          <a:p>
            <a:pPr algn="l">
              <a:lnSpc>
                <a:spcPct val="135000"/>
              </a:lnSpc>
              <a:spcBef>
                <a:spcPts val="300"/>
              </a:spcBef>
            </a:pPr>
            <a:r>
              <a:rPr sz="1250" b="0" i="0">
                <a:solidFill>
                  <a:srgbClr val="5A6875"/>
                </a:solidFill>
                <a:latin typeface="微软雅黑"/>
                <a:ea typeface="微软雅黑"/>
              </a:rPr>
              <a:t>搜集候选书目；辅助写英文脚本；讨论提示词后，用 Seedance 生成部分视觉画面。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2194560"/>
            <a:ext cx="41148" cy="603504"/>
          </a:xfrm>
          <a:prstGeom prst="rect">
            <a:avLst/>
          </a:prstGeom>
          <a:solidFill>
            <a:srgbClr val="177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22960" y="3017520"/>
            <a:ext cx="10543032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3EA"/>
            </a:solidFill>
          </a:ln>
          <a:effectLst/>
          <a:effectLst>
            <a:outerShdw blurRad="101600" dist="25400" dir="5400000" algn="tl" rotWithShape="0">
              <a:srgbClr val="0E2A47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92608" rIns="146304" tIns="146304" bIns="91440"/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E2A47"/>
                </a:solidFill>
                <a:latin typeface="微软雅黑"/>
                <a:ea typeface="微软雅黑"/>
              </a:rPr>
              <a:t>剪映与拍摄（进行中）</a:t>
            </a:r>
          </a:p>
          <a:p>
            <a:pPr algn="l">
              <a:lnSpc>
                <a:spcPct val="135000"/>
              </a:lnSpc>
              <a:spcBef>
                <a:spcPts val="300"/>
              </a:spcBef>
            </a:pPr>
            <a:r>
              <a:rPr sz="1250" b="0" i="0">
                <a:solidFill>
                  <a:srgbClr val="5A6875"/>
                </a:solidFill>
                <a:latin typeface="微软雅黑"/>
                <a:ea typeface="微软雅黑"/>
              </a:rPr>
              <a:t>想法跑在成片前面之后补的短板：能自己剪、自己拍，不只是能提想法。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3127248"/>
            <a:ext cx="41148" cy="603504"/>
          </a:xfrm>
          <a:prstGeom prst="rect">
            <a:avLst/>
          </a:prstGeom>
          <a:solidFill>
            <a:srgbClr val="177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2960" y="3950208"/>
            <a:ext cx="10543032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3EA"/>
            </a:solidFill>
          </a:ln>
          <a:effectLst/>
          <a:effectLst>
            <a:outerShdw blurRad="101600" dist="25400" dir="5400000" algn="tl" rotWithShape="0">
              <a:srgbClr val="0E2A47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92608" rIns="146304" tIns="146304" bIns="91440"/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E2A47"/>
                </a:solidFill>
                <a:latin typeface="微软雅黑"/>
                <a:ea typeface="微软雅黑"/>
              </a:rPr>
              <a:t>个人作品集网站</a:t>
            </a:r>
          </a:p>
          <a:p>
            <a:pPr algn="l">
              <a:lnSpc>
                <a:spcPct val="135000"/>
              </a:lnSpc>
              <a:spcBef>
                <a:spcPts val="300"/>
              </a:spcBef>
            </a:pPr>
            <a:r>
              <a:rPr sz="1250" b="0" i="0">
                <a:solidFill>
                  <a:srgbClr val="5A6875"/>
                </a:solidFill>
                <a:latin typeface="微软雅黑"/>
                <a:ea typeface="微软雅黑"/>
              </a:rPr>
              <a:t>独立搭建并上线，让作品能被直接打开，而不是躺在邮件附件里。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4059935"/>
            <a:ext cx="41148" cy="603504"/>
          </a:xfrm>
          <a:prstGeom prst="rect">
            <a:avLst/>
          </a:prstGeom>
          <a:solidFill>
            <a:srgbClr val="177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22960" y="4882896"/>
            <a:ext cx="10543032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3EA"/>
            </a:solidFill>
          </a:ln>
          <a:effectLst/>
          <a:effectLst>
            <a:outerShdw blurRad="101600" dist="25400" dir="5400000" algn="tl" rotWithShape="0">
              <a:srgbClr val="0E2A47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92608" rIns="146304" tIns="146304" bIns="91440"/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E2A47"/>
                </a:solidFill>
                <a:latin typeface="微软雅黑"/>
                <a:ea typeface="微软雅黑"/>
              </a:rPr>
              <a:t>统计学与 SPSS（进行中）</a:t>
            </a:r>
          </a:p>
          <a:p>
            <a:pPr algn="l">
              <a:lnSpc>
                <a:spcPct val="135000"/>
              </a:lnSpc>
              <a:spcBef>
                <a:spcPts val="300"/>
              </a:spcBef>
            </a:pPr>
            <a:r>
              <a:rPr sz="1250" b="0" i="0">
                <a:solidFill>
                  <a:srgbClr val="5A6875"/>
                </a:solidFill>
                <a:latin typeface="微软雅黑"/>
                <a:ea typeface="微软雅黑"/>
              </a:rPr>
              <a:t>课程已开，正在补数据分析这块最短的板。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4992624"/>
            <a:ext cx="41148" cy="603504"/>
          </a:xfrm>
          <a:prstGeom prst="rect">
            <a:avLst/>
          </a:prstGeom>
          <a:solidFill>
            <a:srgbClr val="177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22960" y="5742432"/>
            <a:ext cx="10543032" cy="713232"/>
          </a:xfrm>
          <a:prstGeom prst="roundRect">
            <a:avLst>
              <a:gd name="adj" fmla="val 10000"/>
            </a:avLst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146304" tIns="146304" bIns="91440"/>
          <a:lstStyle/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</a:rPr>
              <a:t>唯一交给 AI 又收回来的环节是配音：试过之后觉得少了真人互动的感觉。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77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402336"/>
            <a:ext cx="969264" cy="292608"/>
          </a:xfrm>
          <a:prstGeom prst="roundRect">
            <a:avLst>
              <a:gd name="adj" fmla="val 50000"/>
            </a:avLst>
          </a:prstGeom>
          <a:solidFill>
            <a:srgbClr val="E9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  <a:r>
              <a:rPr sz="1100" b="1">
                <a:solidFill>
                  <a:srgbClr val="0F527D"/>
                </a:solidFill>
                <a:latin typeface="微软雅黑"/>
                <a:ea typeface="微软雅黑"/>
              </a:rPr>
              <a:t>调整 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04672"/>
            <a:ext cx="10543032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0E2A47"/>
                </a:solidFill>
                <a:latin typeface="微软雅黑"/>
                <a:ea typeface="微软雅黑"/>
              </a:rPr>
              <a:t>从「凭兴趣选」到「凭证据选」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44752"/>
            <a:ext cx="10543032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5A6875"/>
                </a:solidFill>
                <a:latin typeface="微软雅黑"/>
                <a:ea typeface="微软雅黑"/>
              </a:rPr>
              <a:t>触发点是一次具体的碰壁，不是我自己想通了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353312"/>
            <a:ext cx="566928" cy="41148"/>
          </a:xfrm>
          <a:prstGeom prst="rect">
            <a:avLst/>
          </a:prstGeom>
          <a:solidFill>
            <a:srgbClr val="177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104120" y="457200"/>
            <a:ext cx="274320" cy="82296"/>
          </a:xfrm>
          <a:prstGeom prst="roundRect">
            <a:avLst>
              <a:gd name="adj" fmla="val 50000"/>
            </a:avLst>
          </a:prstGeom>
          <a:solidFill>
            <a:srgbClr val="177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69880" y="457200"/>
            <a:ext cx="274320" cy="82296"/>
          </a:xfrm>
          <a:prstGeom prst="roundRect">
            <a:avLst>
              <a:gd name="adj" fmla="val 50000"/>
            </a:avLst>
          </a:prstGeom>
          <a:solidFill>
            <a:srgbClr val="177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835640" y="457200"/>
            <a:ext cx="274320" cy="82296"/>
          </a:xfrm>
          <a:prstGeom prst="roundRect">
            <a:avLst>
              <a:gd name="adj" fmla="val 50000"/>
            </a:avLst>
          </a:prstGeom>
          <a:solidFill>
            <a:srgbClr val="177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1201400" y="457200"/>
            <a:ext cx="274320" cy="82296"/>
          </a:xfrm>
          <a:prstGeom prst="roundRect">
            <a:avLst>
              <a:gd name="adj" fmla="val 50000"/>
            </a:avLst>
          </a:prstGeom>
          <a:solidFill>
            <a:srgbClr val="DC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0" y="566928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 i="0">
                <a:solidFill>
                  <a:srgbClr val="939EA9"/>
                </a:solidFill>
                <a:latin typeface="微软雅黑"/>
                <a:ea typeface="微软雅黑"/>
              </a:rPr>
              <a:t>反思迭代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18520" y="6327648"/>
            <a:ext cx="8229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 i="0">
                <a:solidFill>
                  <a:srgbClr val="939EA9"/>
                </a:solidFill>
                <a:latin typeface="微软雅黑"/>
                <a:ea typeface="微软雅黑"/>
              </a:rPr>
              <a:t>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638251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 i="0">
                <a:solidFill>
                  <a:srgbClr val="939EA9"/>
                </a:solidFill>
                <a:latin typeface="微软雅黑"/>
                <a:ea typeface="微软雅黑"/>
              </a:rPr>
              <a:t>苏彤彤 · 成长赛道 · 生涯发展展示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2240280"/>
            <a:ext cx="4754880" cy="2212848"/>
          </a:xfrm>
          <a:prstGeom prst="roundRect">
            <a:avLst>
              <a:gd name="adj" fmla="val 7000"/>
            </a:avLst>
          </a:prstGeom>
          <a:solidFill>
            <a:srgbClr val="F4F7FA"/>
          </a:solidFill>
          <a:ln w="12700">
            <a:solidFill>
              <a:srgbClr val="DCE3EA"/>
            </a:solidFill>
          </a:ln>
          <a:effectLst/>
          <a:effectLst>
            <a:outerShdw blurRad="101600" dist="19050" dir="5400000" algn="tl" rotWithShape="0">
              <a:srgbClr val="0E2A47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182880" bIns="91440"/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939EA9"/>
                </a:solidFill>
                <a:latin typeface="微软雅黑"/>
                <a:ea typeface="微软雅黑"/>
              </a:rPr>
              <a:t>调整前</a:t>
            </a:r>
          </a:p>
          <a:p>
            <a:pPr algn="l">
              <a:lnSpc>
                <a:spcPct val="142000"/>
              </a:lnSpc>
              <a:spcBef>
                <a:spcPts val="500"/>
              </a:spcBef>
            </a:pPr>
            <a:r>
              <a:rPr sz="1300" b="0" i="0">
                <a:solidFill>
                  <a:srgbClr val="5A6875"/>
                </a:solidFill>
                <a:latin typeface="微软雅黑"/>
                <a:ea typeface="微软雅黑"/>
              </a:rPr>
              <a:t>凭兴趣圈定范围：运营或公关。
账号做电影分析，判断标准是播放量。
默认「能产出」就等于「有辨识度」。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2386584"/>
            <a:ext cx="41148" cy="1920240"/>
          </a:xfrm>
          <a:prstGeom prst="rect">
            <a:avLst/>
          </a:prstGeom>
          <a:solidFill>
            <a:srgbClr val="939E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45352" y="2240280"/>
            <a:ext cx="5120640" cy="2212848"/>
          </a:xfrm>
          <a:prstGeom prst="roundRect">
            <a:avLst>
              <a:gd name="adj" fmla="val 7000"/>
            </a:avLst>
          </a:prstGeom>
          <a:solidFill>
            <a:srgbClr val="E9F2F9"/>
          </a:solidFill>
          <a:ln w="12700">
            <a:solidFill>
              <a:srgbClr val="DCE3EA"/>
            </a:solidFill>
          </a:ln>
          <a:effectLst/>
          <a:effectLst>
            <a:outerShdw blurRad="101600" dist="19050" dir="5400000" algn="tl" rotWithShape="0">
              <a:srgbClr val="0E2A47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182880" bIns="91440"/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0E2A47"/>
                </a:solidFill>
                <a:latin typeface="微软雅黑"/>
                <a:ea typeface="微软雅黑"/>
              </a:rPr>
              <a:t>调整后</a:t>
            </a:r>
          </a:p>
          <a:p>
            <a:pPr algn="l">
              <a:lnSpc>
                <a:spcPct val="142000"/>
              </a:lnSpc>
              <a:spcBef>
                <a:spcPts val="500"/>
              </a:spcBef>
            </a:pPr>
            <a:r>
              <a:rPr sz="1300" b="0" i="0">
                <a:solidFill>
                  <a:srgbClr val="5A6875"/>
                </a:solidFill>
                <a:latin typeface="微软雅黑"/>
                <a:ea typeface="微软雅黑"/>
              </a:rPr>
              <a:t>凭证据收窄：只留下已经动手在做的那条。
赛道换成中国书籍出海，受众换成海外观众。
判断标准换成「海外读者能不能读完」。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45352" y="2386584"/>
            <a:ext cx="41148" cy="1920240"/>
          </a:xfrm>
          <a:prstGeom prst="rect">
            <a:avLst/>
          </a:prstGeom>
          <a:solidFill>
            <a:srgbClr val="177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18" name="Right Arrow 17"/>
          <p:cNvSpPr/>
          <p:nvPr/>
        </p:nvSpPr>
        <p:spPr>
          <a:xfrm>
            <a:off x="5650992" y="3127248"/>
            <a:ext cx="502920" cy="457200"/>
          </a:xfrm>
          <a:prstGeom prst="rightArrow">
            <a:avLst/>
          </a:prstGeom>
          <a:solidFill>
            <a:srgbClr val="177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22960" y="4700016"/>
            <a:ext cx="10543032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146304" tIns="201168" bIns="91440"/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939EA9"/>
                </a:solidFill>
                <a:latin typeface="微软雅黑"/>
                <a:ea typeface="微软雅黑"/>
              </a:rPr>
              <a:t>我具体改了什么</a:t>
            </a:r>
          </a:p>
          <a:p>
            <a:pPr algn="l">
              <a:lnSpc>
                <a:spcPct val="142000"/>
              </a:lnSpc>
              <a:spcBef>
                <a:spcPts val="400"/>
              </a:spcBef>
            </a:pPr>
            <a:r>
              <a:rPr sz="1350" b="0" i="0">
                <a:solidFill>
                  <a:srgbClr val="0E2A47"/>
                </a:solidFill>
                <a:latin typeface="微软雅黑"/>
                <a:ea typeface="微软雅黑"/>
              </a:rPr>
              <a:t>① 把目标岗位从「新媒体运营」改成带方向的岗位名；② 外语从「我会的技能」重新定位为这条赛道的门槛；③ 判断标准从播放量换成「能不能读完」。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77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402336"/>
            <a:ext cx="969264" cy="292608"/>
          </a:xfrm>
          <a:prstGeom prst="roundRect">
            <a:avLst>
              <a:gd name="adj" fmla="val 50000"/>
            </a:avLst>
          </a:prstGeom>
          <a:solidFill>
            <a:srgbClr val="E9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  <a:r>
              <a:rPr sz="1100" b="1">
                <a:solidFill>
                  <a:srgbClr val="0F527D"/>
                </a:solidFill>
                <a:latin typeface="微软雅黑"/>
                <a:ea typeface="微软雅黑"/>
              </a:rPr>
              <a:t>调整 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04672"/>
            <a:ext cx="10543032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0E2A47"/>
                </a:solidFill>
                <a:latin typeface="微软雅黑"/>
                <a:ea typeface="微软雅黑"/>
              </a:rPr>
              <a:t>补短板，以及第二条线怎么处理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44752"/>
            <a:ext cx="10543032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5A6875"/>
                </a:solidFill>
                <a:latin typeface="微软雅黑"/>
                <a:ea typeface="微软雅黑"/>
              </a:rPr>
              <a:t>第二次改能力，第三次改的是「怎么处理心动」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353312"/>
            <a:ext cx="566928" cy="41148"/>
          </a:xfrm>
          <a:prstGeom prst="rect">
            <a:avLst/>
          </a:prstGeom>
          <a:solidFill>
            <a:srgbClr val="177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104120" y="457200"/>
            <a:ext cx="274320" cy="82296"/>
          </a:xfrm>
          <a:prstGeom prst="roundRect">
            <a:avLst>
              <a:gd name="adj" fmla="val 50000"/>
            </a:avLst>
          </a:prstGeom>
          <a:solidFill>
            <a:srgbClr val="177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69880" y="457200"/>
            <a:ext cx="274320" cy="82296"/>
          </a:xfrm>
          <a:prstGeom prst="roundRect">
            <a:avLst>
              <a:gd name="adj" fmla="val 50000"/>
            </a:avLst>
          </a:prstGeom>
          <a:solidFill>
            <a:srgbClr val="177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835640" y="457200"/>
            <a:ext cx="274320" cy="82296"/>
          </a:xfrm>
          <a:prstGeom prst="roundRect">
            <a:avLst>
              <a:gd name="adj" fmla="val 50000"/>
            </a:avLst>
          </a:prstGeom>
          <a:solidFill>
            <a:srgbClr val="177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1201400" y="457200"/>
            <a:ext cx="274320" cy="82296"/>
          </a:xfrm>
          <a:prstGeom prst="roundRect">
            <a:avLst>
              <a:gd name="adj" fmla="val 50000"/>
            </a:avLst>
          </a:prstGeom>
          <a:solidFill>
            <a:srgbClr val="DC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0" y="566928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 i="0">
                <a:solidFill>
                  <a:srgbClr val="939EA9"/>
                </a:solidFill>
                <a:latin typeface="微软雅黑"/>
                <a:ea typeface="微软雅黑"/>
              </a:rPr>
              <a:t>反思迭代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18520" y="6327648"/>
            <a:ext cx="8229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 i="0">
                <a:solidFill>
                  <a:srgbClr val="939EA9"/>
                </a:solidFill>
                <a:latin typeface="微软雅黑"/>
                <a:ea typeface="微软雅黑"/>
              </a:rPr>
              <a:t>11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638251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 i="0">
                <a:solidFill>
                  <a:srgbClr val="939EA9"/>
                </a:solidFill>
                <a:latin typeface="微软雅黑"/>
                <a:ea typeface="微软雅黑"/>
              </a:rPr>
              <a:t>苏彤彤 · 成长赛道 · 生涯发展展示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2148840"/>
            <a:ext cx="4892040" cy="1874519"/>
          </a:xfrm>
          <a:prstGeom prst="roundRect">
            <a:avLst>
              <a:gd name="adj" fmla="val 7000"/>
            </a:avLst>
          </a:prstGeom>
          <a:solidFill>
            <a:srgbClr val="E9F2F9"/>
          </a:solidFill>
          <a:ln w="12700">
            <a:solidFill>
              <a:srgbClr val="DCE3EA"/>
            </a:solidFill>
          </a:ln>
          <a:effectLst/>
          <a:effectLst>
            <a:outerShdw blurRad="101600" dist="19050" dir="5400000" algn="tl" rotWithShape="0">
              <a:srgbClr val="0E2A47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182880" bIns="91440"/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E2A47"/>
                </a:solidFill>
                <a:latin typeface="微软雅黑"/>
                <a:ea typeface="微软雅黑"/>
              </a:rPr>
              <a:t>能力调整：从只会想，到能自己做出来</a:t>
            </a:r>
          </a:p>
          <a:p>
            <a:pPr algn="l">
              <a:lnSpc>
                <a:spcPct val="142000"/>
              </a:lnSpc>
              <a:spcBef>
                <a:spcPts val="500"/>
              </a:spcBef>
            </a:pPr>
            <a:r>
              <a:rPr sz="1300" b="0" i="0">
                <a:solidFill>
                  <a:srgbClr val="5A6875"/>
                </a:solidFill>
                <a:latin typeface="微软雅黑"/>
                <a:ea typeface="微软雅黑"/>
              </a:rPr>
              <a:t>想法跑在成片前面，我把制作能力单列成要补的短板，现在在练剪映、学拍摄。这既合我的兴趣，也是岗位要求——海外社媒编辑要的是能独立出片的人。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2295144"/>
            <a:ext cx="41148" cy="1581911"/>
          </a:xfrm>
          <a:prstGeom prst="rect">
            <a:avLst/>
          </a:prstGeom>
          <a:solidFill>
            <a:srgbClr val="177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45352" y="2148840"/>
            <a:ext cx="5120640" cy="1874519"/>
          </a:xfrm>
          <a:prstGeom prst="roundRect">
            <a:avLst>
              <a:gd name="adj" fmla="val 7000"/>
            </a:avLst>
          </a:prstGeom>
          <a:solidFill>
            <a:srgbClr val="F4F7FA"/>
          </a:solidFill>
          <a:ln w="12700">
            <a:solidFill>
              <a:srgbClr val="DCE3EA"/>
            </a:solidFill>
          </a:ln>
          <a:effectLst/>
          <a:effectLst>
            <a:outerShdw blurRad="101600" dist="19050" dir="5400000" algn="tl" rotWithShape="0">
              <a:srgbClr val="0E2A47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182880" bIns="91440"/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C4703C"/>
                </a:solidFill>
                <a:latin typeface="微软雅黑"/>
                <a:ea typeface="微软雅黑"/>
              </a:rPr>
              <a:t>第三条：心动怎么处理</a:t>
            </a:r>
          </a:p>
          <a:p>
            <a:pPr algn="l">
              <a:lnSpc>
                <a:spcPct val="142000"/>
              </a:lnSpc>
              <a:spcBef>
                <a:spcPts val="500"/>
              </a:spcBef>
            </a:pPr>
            <a:r>
              <a:rPr sz="1200" b="0" i="0">
                <a:solidFill>
                  <a:srgbClr val="5A6875"/>
                </a:solidFill>
                <a:latin typeface="微软雅黑"/>
                <a:ea typeface="微软雅黑"/>
              </a:rPr>
              <a:t>Carnival 公司的实践课后，我对广告策划动了心。这次我没按在旁线上——它升成了第二个目标方向。课上独立完成的「峰羽」，是这条线目前的第一个作品：峰＝高山与向上，羽＝轻量化与鹰的羽翼；按品牌联想、读音、同品类区隔、可注册性四关筛出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45352" y="2295144"/>
            <a:ext cx="41148" cy="1581911"/>
          </a:xfrm>
          <a:prstGeom prst="rect">
            <a:avLst/>
          </a:prstGeom>
          <a:solidFill>
            <a:srgbClr val="C47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2960" y="4224528"/>
            <a:ext cx="10543032" cy="12070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146304" tIns="182880" bIns="91440"/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0E2A47"/>
                </a:solidFill>
                <a:latin typeface="微软雅黑"/>
                <a:ea typeface="微软雅黑"/>
              </a:rPr>
              <a:t>三次调整的共同点：都由一件具体的事触发，都能说出「之前是什么、之后是什么」。</a:t>
            </a:r>
          </a:p>
          <a:p>
            <a:pPr algn="l">
              <a:lnSpc>
                <a:spcPct val="140000"/>
              </a:lnSpc>
              <a:spcBef>
                <a:spcPts val="400"/>
              </a:spcBef>
            </a:pPr>
            <a:r>
              <a:rPr sz="1250" b="0" i="0">
                <a:solidFill>
                  <a:srgbClr val="5A6875"/>
                </a:solidFill>
                <a:latin typeface="微软雅黑"/>
                <a:ea typeface="微软雅黑"/>
              </a:rPr>
              <a:t>之后的机制：每学期末对照目标检查；连续两学期未达成，我先怀疑目标本身，而不是怀疑自己不够努力。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5504688"/>
            <a:ext cx="10543032" cy="786384"/>
          </a:xfrm>
          <a:prstGeom prst="roundRect">
            <a:avLst>
              <a:gd name="adj" fmla="val 5000"/>
            </a:avLst>
          </a:prstGeom>
          <a:solidFill>
            <a:srgbClr val="F4F7FA"/>
          </a:solidFill>
          <a:ln w="15875">
            <a:solidFill>
              <a:srgbClr val="B9C4CE"/>
            </a:solidFill>
            <a:prstDash val="sysDot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  <a:r>
              <a:rPr sz="1200" b="1">
                <a:solidFill>
                  <a:srgbClr val="5A6875"/>
                </a:solidFill>
                <a:latin typeface="微软雅黑"/>
                <a:ea typeface="微软雅黑"/>
              </a:rPr>
              <a:t>待补：第一期上线后的 48 小时数据（播放 / 前 30 秒留存 / 互动）　·　上线后记录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77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402336"/>
            <a:ext cx="969264" cy="292608"/>
          </a:xfrm>
          <a:prstGeom prst="roundRect">
            <a:avLst>
              <a:gd name="adj" fmla="val 50000"/>
            </a:avLst>
          </a:prstGeom>
          <a:solidFill>
            <a:srgbClr val="E9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  <a:r>
              <a:rPr sz="1100" b="1">
                <a:solidFill>
                  <a:srgbClr val="0F527D"/>
                </a:solidFill>
                <a:latin typeface="微软雅黑"/>
                <a:ea typeface="微软雅黑"/>
              </a:rPr>
              <a:t>下一步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04672"/>
            <a:ext cx="10543032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0E2A47"/>
                </a:solidFill>
                <a:latin typeface="微软雅黑"/>
                <a:ea typeface="微软雅黑"/>
              </a:rPr>
              <a:t>未来 12 个月，我怎么验证这个判断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353312"/>
            <a:ext cx="566928" cy="41148"/>
          </a:xfrm>
          <a:prstGeom prst="rect">
            <a:avLst/>
          </a:prstGeom>
          <a:solidFill>
            <a:srgbClr val="177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104120" y="457200"/>
            <a:ext cx="274320" cy="82296"/>
          </a:xfrm>
          <a:prstGeom prst="roundRect">
            <a:avLst>
              <a:gd name="adj" fmla="val 50000"/>
            </a:avLst>
          </a:prstGeom>
          <a:solidFill>
            <a:srgbClr val="177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469880" y="457200"/>
            <a:ext cx="274320" cy="82296"/>
          </a:xfrm>
          <a:prstGeom prst="roundRect">
            <a:avLst>
              <a:gd name="adj" fmla="val 50000"/>
            </a:avLst>
          </a:prstGeom>
          <a:solidFill>
            <a:srgbClr val="177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835640" y="457200"/>
            <a:ext cx="274320" cy="82296"/>
          </a:xfrm>
          <a:prstGeom prst="roundRect">
            <a:avLst>
              <a:gd name="adj" fmla="val 50000"/>
            </a:avLst>
          </a:prstGeom>
          <a:solidFill>
            <a:srgbClr val="177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1201400" y="457200"/>
            <a:ext cx="274320" cy="82296"/>
          </a:xfrm>
          <a:prstGeom prst="roundRect">
            <a:avLst>
              <a:gd name="adj" fmla="val 50000"/>
            </a:avLst>
          </a:prstGeom>
          <a:solidFill>
            <a:srgbClr val="177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0" y="566928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 i="0">
                <a:solidFill>
                  <a:srgbClr val="939EA9"/>
                </a:solidFill>
                <a:latin typeface="微软雅黑"/>
                <a:ea typeface="微软雅黑"/>
              </a:rPr>
              <a:t>面向未来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18520" y="6327648"/>
            <a:ext cx="8229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 i="0">
                <a:solidFill>
                  <a:srgbClr val="939EA9"/>
                </a:solidFill>
                <a:latin typeface="微软雅黑"/>
                <a:ea typeface="微软雅黑"/>
              </a:rPr>
              <a:t>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638251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 i="0">
                <a:solidFill>
                  <a:srgbClr val="939EA9"/>
                </a:solidFill>
                <a:latin typeface="微软雅黑"/>
                <a:ea typeface="微软雅黑"/>
              </a:rPr>
              <a:t>苏彤彤 · 成长赛道 · 生涯发展展示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2999232"/>
            <a:ext cx="10543032" cy="41148"/>
          </a:xfrm>
          <a:prstGeom prst="rect">
            <a:avLst/>
          </a:prstGeom>
          <a:solidFill>
            <a:srgbClr val="DC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77824" y="2907792"/>
            <a:ext cx="219456" cy="219456"/>
          </a:xfrm>
          <a:prstGeom prst="ellipse">
            <a:avLst/>
          </a:prstGeom>
          <a:solidFill>
            <a:srgbClr val="177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2395728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1771A8"/>
                </a:solidFill>
                <a:latin typeface="微软雅黑"/>
                <a:ea typeface="微软雅黑"/>
              </a:rPr>
              <a:t>近 3 个月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383280"/>
            <a:ext cx="324612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250" b="0" i="0">
                <a:solidFill>
                  <a:srgbClr val="5A6875"/>
                </a:solidFill>
                <a:latin typeface="微软雅黑"/>
                <a:ea typeface="微软雅黑"/>
              </a:rPr>
              <a:t>· 完成第一期上线</a:t>
            </a:r>
          </a:p>
          <a:p>
            <a:pPr algn="l">
              <a:lnSpc>
                <a:spcPct val="145000"/>
              </a:lnSpc>
            </a:pPr>
            <a:r>
              <a:rPr sz="1250" b="0" i="0">
                <a:solidFill>
                  <a:srgbClr val="5A6875"/>
                </a:solidFill>
                <a:latin typeface="微软雅黑"/>
                <a:ea typeface="微软雅黑"/>
              </a:rPr>
              <a:t>· 48 小时数据复盘定第二期</a:t>
            </a:r>
          </a:p>
          <a:p>
            <a:pPr algn="l">
              <a:lnSpc>
                <a:spcPct val="145000"/>
              </a:lnSpc>
            </a:pPr>
            <a:r>
              <a:rPr sz="1250" b="0" i="0">
                <a:solidFill>
                  <a:srgbClr val="5A6875"/>
                </a:solidFill>
                <a:latin typeface="微软雅黑"/>
                <a:ea typeface="微软雅黑"/>
              </a:rPr>
              <a:t>· 报考小红书蒲公英营销师</a:t>
            </a:r>
          </a:p>
          <a:p>
            <a:pPr algn="l">
              <a:lnSpc>
                <a:spcPct val="145000"/>
              </a:lnSpc>
            </a:pPr>
            <a:r>
              <a:rPr sz="1250" b="0" i="0">
                <a:solidFill>
                  <a:srgbClr val="5A6875"/>
                </a:solidFill>
                <a:latin typeface="微软雅黑"/>
                <a:ea typeface="微软雅黑"/>
              </a:rPr>
              <a:t>· 每周拆解一款爆款，五问写成一页</a:t>
            </a:r>
          </a:p>
        </p:txBody>
      </p:sp>
      <p:sp>
        <p:nvSpPr>
          <p:cNvPr id="17" name="Oval 16"/>
          <p:cNvSpPr/>
          <p:nvPr/>
        </p:nvSpPr>
        <p:spPr>
          <a:xfrm>
            <a:off x="4462272" y="2907792"/>
            <a:ext cx="219456" cy="219456"/>
          </a:xfrm>
          <a:prstGeom prst="ellipse">
            <a:avLst/>
          </a:prstGeom>
          <a:solidFill>
            <a:srgbClr val="0F52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07408" y="2395728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0F527D"/>
                </a:solidFill>
                <a:latin typeface="微软雅黑"/>
                <a:ea typeface="微软雅黑"/>
              </a:rPr>
              <a:t>3–8 个月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07408" y="3383280"/>
            <a:ext cx="324612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250" b="0" i="0">
                <a:solidFill>
                  <a:srgbClr val="5A6875"/>
                </a:solidFill>
                <a:latin typeface="微软雅黑"/>
                <a:ea typeface="微软雅黑"/>
              </a:rPr>
              <a:t>· 拿到蒲公英营销师认证</a:t>
            </a:r>
          </a:p>
          <a:p>
            <a:pPr algn="l">
              <a:lnSpc>
                <a:spcPct val="145000"/>
              </a:lnSpc>
            </a:pPr>
            <a:r>
              <a:rPr sz="1250" b="0" i="0">
                <a:solidFill>
                  <a:srgbClr val="5A6875"/>
                </a:solidFill>
                <a:latin typeface="微软雅黑"/>
                <a:ea typeface="微软雅黑"/>
              </a:rPr>
              <a:t>· 拿到第一段相关实习</a:t>
            </a:r>
          </a:p>
          <a:p>
            <a:pPr algn="l">
              <a:lnSpc>
                <a:spcPct val="145000"/>
              </a:lnSpc>
            </a:pPr>
            <a:r>
              <a:rPr sz="1250" b="0" i="0">
                <a:solidFill>
                  <a:srgbClr val="5A6875"/>
                </a:solidFill>
                <a:latin typeface="微软雅黑"/>
                <a:ea typeface="微软雅黑"/>
              </a:rPr>
              <a:t>· 账号稳定更新，建数据台账</a:t>
            </a:r>
          </a:p>
        </p:txBody>
      </p:sp>
      <p:sp>
        <p:nvSpPr>
          <p:cNvPr id="20" name="Oval 19"/>
          <p:cNvSpPr/>
          <p:nvPr/>
        </p:nvSpPr>
        <p:spPr>
          <a:xfrm>
            <a:off x="8046720" y="2907792"/>
            <a:ext cx="219456" cy="219456"/>
          </a:xfrm>
          <a:prstGeom prst="ellipse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91856" y="2395728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0E2A47"/>
                </a:solidFill>
                <a:latin typeface="微软雅黑"/>
                <a:ea typeface="微软雅黑"/>
              </a:rPr>
              <a:t>8–12 个月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91856" y="3383280"/>
            <a:ext cx="324612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250" b="0" i="0">
                <a:solidFill>
                  <a:srgbClr val="5A6875"/>
                </a:solidFill>
                <a:latin typeface="微软雅黑"/>
                <a:ea typeface="微软雅黑"/>
              </a:rPr>
              <a:t>· 独立完成一个完整的内容项目</a:t>
            </a:r>
          </a:p>
          <a:p>
            <a:pPr algn="l">
              <a:lnSpc>
                <a:spcPct val="145000"/>
              </a:lnSpc>
            </a:pPr>
            <a:r>
              <a:rPr sz="1250" b="0" i="0">
                <a:solidFill>
                  <a:srgbClr val="5A6875"/>
                </a:solidFill>
                <a:latin typeface="微软雅黑"/>
                <a:ea typeface="微软雅黑"/>
              </a:rPr>
              <a:t>· 把方法写成可复用的清单</a:t>
            </a:r>
          </a:p>
          <a:p>
            <a:pPr algn="l">
              <a:lnSpc>
                <a:spcPct val="145000"/>
              </a:lnSpc>
            </a:pPr>
            <a:r>
              <a:rPr sz="1250" b="0" i="0">
                <a:solidFill>
                  <a:srgbClr val="5A6875"/>
                </a:solidFill>
                <a:latin typeface="微软雅黑"/>
                <a:ea typeface="微软雅黑"/>
              </a:rPr>
              <a:t>· 重新校准两条线的权重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" y="5285232"/>
            <a:ext cx="10543032" cy="896112"/>
          </a:xfrm>
          <a:prstGeom prst="roundRect">
            <a:avLst>
              <a:gd name="adj" fmla="val 10000"/>
            </a:avLst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146304" tIns="164592" bIns="91440"/>
          <a:lstStyle/>
          <a:p>
            <a:pPr algn="l">
              <a:lnSpc>
                <a:spcPct val="135000"/>
              </a:lnSpc>
            </a:pPr>
            <a:r>
              <a:rPr sz="1450" b="1" i="0">
                <a:solidFill>
                  <a:srgbClr val="FFFFFF"/>
                </a:solidFill>
                <a:latin typeface="微软雅黑"/>
                <a:ea typeface="微软雅黑"/>
              </a:rPr>
              <a:t>如果一年后数据不支持国际传播，我把资源迁到广告策划那条线，而不是继续硬挤——两条共用一套本事，能力可以迁移。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77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402336"/>
            <a:ext cx="969264" cy="292608"/>
          </a:xfrm>
          <a:prstGeom prst="roundRect">
            <a:avLst>
              <a:gd name="adj" fmla="val 50000"/>
            </a:avLst>
          </a:prstGeom>
          <a:solidFill>
            <a:srgbClr val="E9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  <a:r>
              <a:rPr sz="1100" b="1">
                <a:solidFill>
                  <a:srgbClr val="0F527D"/>
                </a:solidFill>
                <a:latin typeface="微软雅黑"/>
                <a:ea typeface="微软雅黑"/>
              </a:rPr>
              <a:t>附录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04672"/>
            <a:ext cx="10543032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0E2A47"/>
                </a:solidFill>
                <a:latin typeface="微软雅黑"/>
                <a:ea typeface="微软雅黑"/>
              </a:rPr>
              <a:t>四条候选路径横向对比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44752"/>
            <a:ext cx="10543032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5A6875"/>
                </a:solidFill>
                <a:latin typeface="微软雅黑"/>
                <a:ea typeface="微软雅黑"/>
              </a:rPr>
              <a:t>评委提问时翻到这一页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353312"/>
            <a:ext cx="566928" cy="41148"/>
          </a:xfrm>
          <a:prstGeom prst="rect">
            <a:avLst/>
          </a:prstGeom>
          <a:solidFill>
            <a:srgbClr val="177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18520" y="6327648"/>
            <a:ext cx="8229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 i="0">
                <a:solidFill>
                  <a:srgbClr val="939EA9"/>
                </a:solidFill>
                <a:latin typeface="微软雅黑"/>
                <a:ea typeface="微软雅黑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38251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 i="0">
                <a:solidFill>
                  <a:srgbClr val="939EA9"/>
                </a:solidFill>
                <a:latin typeface="微软雅黑"/>
                <a:ea typeface="微软雅黑"/>
              </a:rPr>
              <a:t>苏彤彤 · 成长赛道 · 生涯发展展示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822960" y="2103120"/>
          <a:ext cx="10543031" cy="3438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/>
                <a:gridCol w="2286000"/>
                <a:gridCol w="2286000"/>
                <a:gridCol w="2286000"/>
                <a:gridCol w="2084831"/>
              </a:tblGrid>
              <a:tr h="420624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对比维度</a:t>
                      </a:r>
                    </a:p>
                  </a:txBody>
                  <a:tcPr marL="91440" marR="73152" marT="45720" marB="45720" anchor="ctr"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内容 / 新媒体</a:t>
                      </a:r>
                    </a:p>
                  </a:txBody>
                  <a:tcPr marL="91440" marR="73152" marT="45720" marB="45720" anchor="ctr"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广告 / 营销公关</a:t>
                      </a:r>
                    </a:p>
                  </a:txBody>
                  <a:tcPr marL="91440" marR="73152" marT="45720" marB="45720" anchor="ctr"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互联网产品运营</a:t>
                      </a:r>
                    </a:p>
                  </a:txBody>
                  <a:tcPr marL="91440" marR="73152" marT="45720" marB="45720" anchor="ctr"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国际传播 · 文化出海</a:t>
                      </a:r>
                    </a:p>
                  </a:txBody>
                  <a:tcPr marL="91440" marR="73152" marT="45720" marB="45720" anchor="ctr">
                    <a:solidFill>
                      <a:srgbClr val="0E2A47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5A6875"/>
                          </a:solidFill>
                          <a:latin typeface="微软雅黑"/>
                          <a:ea typeface="微软雅黑"/>
                        </a:rPr>
                        <a:t>典型岗位</a:t>
                      </a:r>
                    </a:p>
                  </a:txBody>
                  <a:tcPr marL="91440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50" b="0">
                          <a:solidFill>
                            <a:srgbClr val="5A6875"/>
                          </a:solidFill>
                          <a:latin typeface="微软雅黑"/>
                          <a:ea typeface="微软雅黑"/>
                        </a:rPr>
                        <a:t>内容运营、新媒体编辑</a:t>
                      </a:r>
                    </a:p>
                  </a:txBody>
                  <a:tcPr marL="91440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50" b="0">
                          <a:solidFill>
                            <a:srgbClr val="5A6875"/>
                          </a:solidFill>
                          <a:latin typeface="微软雅黑"/>
                          <a:ea typeface="微软雅黑"/>
                        </a:rPr>
                        <a:t>文案、AE、策划</a:t>
                      </a:r>
                    </a:p>
                  </a:txBody>
                  <a:tcPr marL="91440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50" b="0">
                          <a:solidFill>
                            <a:srgbClr val="5A6875"/>
                          </a:solidFill>
                          <a:latin typeface="微软雅黑"/>
                          <a:ea typeface="微软雅黑"/>
                        </a:rPr>
                        <a:t>产品运营、用户运营</a:t>
                      </a:r>
                    </a:p>
                  </a:txBody>
                  <a:tcPr marL="91440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50" b="0">
                          <a:solidFill>
                            <a:srgbClr val="0F527D"/>
                          </a:solidFill>
                          <a:latin typeface="微软雅黑"/>
                          <a:ea typeface="微软雅黑"/>
                        </a:rPr>
                        <a:t>海外新媒体运营、国际传播专员</a:t>
                      </a:r>
                    </a:p>
                  </a:txBody>
                  <a:tcPr marL="91440" marR="73152" marT="45720" marB="45720" anchor="ctr">
                    <a:solidFill>
                      <a:srgbClr val="E9F2F9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5A6875"/>
                          </a:solidFill>
                          <a:latin typeface="微软雅黑"/>
                          <a:ea typeface="微软雅黑"/>
                        </a:rPr>
                        <a:t>日常交付</a:t>
                      </a:r>
                    </a:p>
                  </a:txBody>
                  <a:tcPr marL="91440" marR="73152" marT="45720" marB="45720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50" b="0">
                          <a:solidFill>
                            <a:srgbClr val="5A6875"/>
                          </a:solidFill>
                          <a:latin typeface="微软雅黑"/>
                          <a:ea typeface="微软雅黑"/>
                        </a:rPr>
                        <a:t>选题—成片—发布—复盘</a:t>
                      </a:r>
                    </a:p>
                  </a:txBody>
                  <a:tcPr marL="91440" marR="73152" marT="45720" marB="45720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50" b="0">
                          <a:solidFill>
                            <a:srgbClr val="5A6875"/>
                          </a:solidFill>
                          <a:latin typeface="微软雅黑"/>
                          <a:ea typeface="微软雅黑"/>
                        </a:rPr>
                        <a:t>brief—提案—执行—结案</a:t>
                      </a:r>
                    </a:p>
                  </a:txBody>
                  <a:tcPr marL="91440" marR="73152" marT="45720" marB="45720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50" b="0">
                          <a:solidFill>
                            <a:srgbClr val="5A6875"/>
                          </a:solidFill>
                          <a:latin typeface="微软雅黑"/>
                          <a:ea typeface="微软雅黑"/>
                        </a:rPr>
                        <a:t>需求—评审—上线—数据</a:t>
                      </a:r>
                    </a:p>
                  </a:txBody>
                  <a:tcPr marL="91440" marR="73152" marT="45720" marB="45720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50" b="0">
                          <a:solidFill>
                            <a:srgbClr val="0F527D"/>
                          </a:solidFill>
                          <a:latin typeface="微软雅黑"/>
                          <a:ea typeface="微软雅黑"/>
                        </a:rPr>
                        <a:t>选材—跨文化改写—投放—复盘</a:t>
                      </a:r>
                    </a:p>
                  </a:txBody>
                  <a:tcPr marL="91440" marR="73152" marT="45720" marB="45720" anchor="ctr">
                    <a:solidFill>
                      <a:srgbClr val="E9F2F9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5A6875"/>
                          </a:solidFill>
                          <a:latin typeface="微软雅黑"/>
                          <a:ea typeface="微软雅黑"/>
                        </a:rPr>
                        <a:t>核心能力</a:t>
                      </a:r>
                    </a:p>
                  </a:txBody>
                  <a:tcPr marL="91440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50" b="0">
                          <a:solidFill>
                            <a:srgbClr val="5A6875"/>
                          </a:solidFill>
                          <a:latin typeface="微软雅黑"/>
                          <a:ea typeface="微软雅黑"/>
                        </a:rPr>
                        <a:t>内容感、平台嗅觉</a:t>
                      </a:r>
                    </a:p>
                  </a:txBody>
                  <a:tcPr marL="91440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50" b="0">
                          <a:solidFill>
                            <a:srgbClr val="5A6875"/>
                          </a:solidFill>
                          <a:latin typeface="微软雅黑"/>
                          <a:ea typeface="微软雅黑"/>
                        </a:rPr>
                        <a:t>客户沟通、提案能力</a:t>
                      </a:r>
                    </a:p>
                  </a:txBody>
                  <a:tcPr marL="91440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50" b="0">
                          <a:solidFill>
                            <a:srgbClr val="5A6875"/>
                          </a:solidFill>
                          <a:latin typeface="微软雅黑"/>
                          <a:ea typeface="微软雅黑"/>
                        </a:rPr>
                        <a:t>需求判断、跨部门协同</a:t>
                      </a:r>
                    </a:p>
                  </a:txBody>
                  <a:tcPr marL="91440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50" b="0">
                          <a:solidFill>
                            <a:srgbClr val="0F527D"/>
                          </a:solidFill>
                          <a:latin typeface="微软雅黑"/>
                          <a:ea typeface="微软雅黑"/>
                        </a:rPr>
                        <a:t>外语、跨文化判断、内容生产</a:t>
                      </a:r>
                    </a:p>
                  </a:txBody>
                  <a:tcPr marL="91440" marR="73152" marT="45720" marB="45720" anchor="ctr">
                    <a:solidFill>
                      <a:srgbClr val="E9F2F9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5A6875"/>
                          </a:solidFill>
                          <a:latin typeface="微软雅黑"/>
                          <a:ea typeface="微软雅黑"/>
                        </a:rPr>
                        <a:t>主要风险</a:t>
                      </a:r>
                    </a:p>
                  </a:txBody>
                  <a:tcPr marL="91440" marR="73152" marT="45720" marB="45720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50" b="0">
                          <a:solidFill>
                            <a:srgbClr val="5A6875"/>
                          </a:solidFill>
                          <a:latin typeface="微软雅黑"/>
                          <a:ea typeface="微软雅黑"/>
                        </a:rPr>
                        <a:t>流量波动大</a:t>
                      </a:r>
                    </a:p>
                  </a:txBody>
                  <a:tcPr marL="91440" marR="73152" marT="45720" marB="45720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50" b="0">
                          <a:solidFill>
                            <a:srgbClr val="5A6875"/>
                          </a:solidFill>
                          <a:latin typeface="微软雅黑"/>
                          <a:ea typeface="微软雅黑"/>
                        </a:rPr>
                        <a:t>创意归客户与预算</a:t>
                      </a:r>
                    </a:p>
                  </a:txBody>
                  <a:tcPr marL="91440" marR="73152" marT="45720" marB="45720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50" b="0">
                          <a:solidFill>
                            <a:srgbClr val="5A6875"/>
                          </a:solidFill>
                          <a:latin typeface="微软雅黑"/>
                          <a:ea typeface="微软雅黑"/>
                        </a:rPr>
                        <a:t>成长周期长、话语权低</a:t>
                      </a:r>
                    </a:p>
                  </a:txBody>
                  <a:tcPr marL="91440" marR="73152" marT="45720" marB="45720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50" b="0">
                          <a:solidFill>
                            <a:srgbClr val="0F527D"/>
                          </a:solidFill>
                          <a:latin typeface="微软雅黑"/>
                          <a:ea typeface="微软雅黑"/>
                        </a:rPr>
                        <a:t>渠道与政策不确定</a:t>
                      </a:r>
                    </a:p>
                  </a:txBody>
                  <a:tcPr marL="91440" marR="73152" marT="45720" marB="45720" anchor="ctr">
                    <a:solidFill>
                      <a:srgbClr val="E9F2F9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0E2A47"/>
                          </a:solidFill>
                          <a:latin typeface="微软雅黑"/>
                          <a:ea typeface="微软雅黑"/>
                        </a:rPr>
                        <a:t>我的判断</a:t>
                      </a:r>
                    </a:p>
                  </a:txBody>
                  <a:tcPr marL="91440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0E2A47"/>
                          </a:solidFill>
                          <a:latin typeface="微软雅黑"/>
                          <a:ea typeface="微软雅黑"/>
                        </a:rPr>
                        <a:t>能力底盘，不作目标</a:t>
                      </a:r>
                    </a:p>
                  </a:txBody>
                  <a:tcPr marL="91440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0E2A47"/>
                          </a:solidFill>
                          <a:latin typeface="微软雅黑"/>
                          <a:ea typeface="微软雅黑"/>
                        </a:rPr>
                        <a:t>第二目标</a:t>
                      </a:r>
                    </a:p>
                  </a:txBody>
                  <a:tcPr marL="91440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0E2A47"/>
                          </a:solidFill>
                          <a:latin typeface="微软雅黑"/>
                          <a:ea typeface="微软雅黑"/>
                        </a:rPr>
                        <a:t>缺产品侧经验</a:t>
                      </a:r>
                    </a:p>
                  </a:txBody>
                  <a:tcPr marL="91440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0F527D"/>
                          </a:solidFill>
                          <a:latin typeface="微软雅黑"/>
                          <a:ea typeface="微软雅黑"/>
                        </a:rPr>
                        <a:t>第一目标</a:t>
                      </a:r>
                    </a:p>
                  </a:txBody>
                  <a:tcPr marL="91440" marR="73152" marT="45720" marB="45720" anchor="ctr">
                    <a:solidFill>
                      <a:srgbClr val="E9F2F9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22960" y="5870448"/>
            <a:ext cx="1054303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5A6875"/>
                </a:solidFill>
                <a:latin typeface="微软雅黑"/>
                <a:ea typeface="微软雅黑"/>
              </a:rPr>
              <a:t>最后两列是我选定的两条方向。选择依据不是「更喜欢」，而是手上有没有能支撑它的证据。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77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402336"/>
            <a:ext cx="969264" cy="292608"/>
          </a:xfrm>
          <a:prstGeom prst="roundRect">
            <a:avLst>
              <a:gd name="adj" fmla="val 50000"/>
            </a:avLst>
          </a:prstGeom>
          <a:solidFill>
            <a:srgbClr val="E9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  <a:r>
              <a:rPr sz="1100" b="1">
                <a:solidFill>
                  <a:srgbClr val="0F527D"/>
                </a:solidFill>
                <a:latin typeface="微软雅黑"/>
                <a:ea typeface="微软雅黑"/>
              </a:rPr>
              <a:t>附录 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04672"/>
            <a:ext cx="10543032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0E2A47"/>
                </a:solidFill>
                <a:latin typeface="微软雅黑"/>
                <a:ea typeface="微软雅黑"/>
              </a:rPr>
              <a:t>能力盘点与差距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44752"/>
            <a:ext cx="10543032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5A6875"/>
                </a:solidFill>
                <a:latin typeface="微软雅黑"/>
                <a:ea typeface="微软雅黑"/>
              </a:rPr>
              <a:t>短板写在明处：评委一定会问「你怎么补」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353312"/>
            <a:ext cx="566928" cy="41148"/>
          </a:xfrm>
          <a:prstGeom prst="rect">
            <a:avLst/>
          </a:prstGeom>
          <a:solidFill>
            <a:srgbClr val="177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18520" y="6327648"/>
            <a:ext cx="8229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 i="0">
                <a:solidFill>
                  <a:srgbClr val="939EA9"/>
                </a:solidFill>
                <a:latin typeface="微软雅黑"/>
                <a:ea typeface="微软雅黑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38251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 i="0">
                <a:solidFill>
                  <a:srgbClr val="939EA9"/>
                </a:solidFill>
                <a:latin typeface="微软雅黑"/>
                <a:ea typeface="微软雅黑"/>
              </a:rPr>
              <a:t>苏彤彤 · 成长赛道 · 生涯发展展示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066543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 i="0">
                <a:solidFill>
                  <a:srgbClr val="0E2A47"/>
                </a:solidFill>
                <a:latin typeface="微软雅黑"/>
                <a:ea typeface="微软雅黑"/>
              </a:rPr>
              <a:t>外语能力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0" y="2084831"/>
            <a:ext cx="310896" cy="237744"/>
          </a:xfrm>
          <a:prstGeom prst="roundRect">
            <a:avLst>
              <a:gd name="adj" fmla="val 40000"/>
            </a:avLst>
          </a:prstGeom>
          <a:solidFill>
            <a:srgbClr val="177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602736" y="2084831"/>
            <a:ext cx="310896" cy="237744"/>
          </a:xfrm>
          <a:prstGeom prst="roundRect">
            <a:avLst>
              <a:gd name="adj" fmla="val 40000"/>
            </a:avLst>
          </a:prstGeom>
          <a:solidFill>
            <a:srgbClr val="177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005072" y="2084831"/>
            <a:ext cx="310896" cy="237744"/>
          </a:xfrm>
          <a:prstGeom prst="roundRect">
            <a:avLst>
              <a:gd name="adj" fmla="val 40000"/>
            </a:avLst>
          </a:prstGeom>
          <a:solidFill>
            <a:srgbClr val="177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407408" y="2084831"/>
            <a:ext cx="310896" cy="237744"/>
          </a:xfrm>
          <a:prstGeom prst="roundRect">
            <a:avLst>
              <a:gd name="adj" fmla="val 40000"/>
            </a:avLst>
          </a:prstGeom>
          <a:solidFill>
            <a:srgbClr val="177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809744" y="2084831"/>
            <a:ext cx="310896" cy="237744"/>
          </a:xfrm>
          <a:prstGeom prst="roundRect">
            <a:avLst>
              <a:gd name="adj" fmla="val 40000"/>
            </a:avLst>
          </a:prstGeom>
          <a:solidFill>
            <a:srgbClr val="177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0" y="2066543"/>
            <a:ext cx="585216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5A6875"/>
                </a:solidFill>
                <a:latin typeface="微软雅黑"/>
                <a:ea typeface="微软雅黑"/>
              </a:rPr>
              <a:t>壁垒，但不是职业目标本身（翻译是执行层）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2706624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 i="0">
                <a:solidFill>
                  <a:srgbClr val="0E2A47"/>
                </a:solidFill>
                <a:latin typeface="微软雅黑"/>
                <a:ea typeface="微软雅黑"/>
              </a:rPr>
              <a:t>内容生产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00400" y="2724912"/>
            <a:ext cx="310896" cy="237744"/>
          </a:xfrm>
          <a:prstGeom prst="roundRect">
            <a:avLst>
              <a:gd name="adj" fmla="val 40000"/>
            </a:avLst>
          </a:prstGeom>
          <a:solidFill>
            <a:srgbClr val="177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602736" y="2724912"/>
            <a:ext cx="310896" cy="237744"/>
          </a:xfrm>
          <a:prstGeom prst="roundRect">
            <a:avLst>
              <a:gd name="adj" fmla="val 40000"/>
            </a:avLst>
          </a:prstGeom>
          <a:solidFill>
            <a:srgbClr val="177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005072" y="2724912"/>
            <a:ext cx="310896" cy="237744"/>
          </a:xfrm>
          <a:prstGeom prst="roundRect">
            <a:avLst>
              <a:gd name="adj" fmla="val 40000"/>
            </a:avLst>
          </a:prstGeom>
          <a:solidFill>
            <a:srgbClr val="177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407408" y="2724912"/>
            <a:ext cx="310896" cy="237744"/>
          </a:xfrm>
          <a:prstGeom prst="roundRect">
            <a:avLst>
              <a:gd name="adj" fmla="val 40000"/>
            </a:avLst>
          </a:prstGeom>
          <a:solidFill>
            <a:srgbClr val="177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809744" y="2724912"/>
            <a:ext cx="310896" cy="237744"/>
          </a:xfrm>
          <a:prstGeom prst="roundRect">
            <a:avLst>
              <a:gd name="adj" fmla="val 40000"/>
            </a:avLst>
          </a:prstGeom>
          <a:solidFill>
            <a:srgbClr val="E6EA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0" y="2706624"/>
            <a:ext cx="585216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5A6875"/>
                </a:solidFill>
                <a:latin typeface="微软雅黑"/>
                <a:ea typeface="微软雅黑"/>
              </a:rPr>
              <a:t>选题与脚本能独立跑完，成片制作正在补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3346703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 i="0">
                <a:solidFill>
                  <a:srgbClr val="0E2A47"/>
                </a:solidFill>
                <a:latin typeface="微软雅黑"/>
                <a:ea typeface="微软雅黑"/>
              </a:rPr>
              <a:t>技术工具与 AI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00400" y="3364991"/>
            <a:ext cx="310896" cy="237744"/>
          </a:xfrm>
          <a:prstGeom prst="roundRect">
            <a:avLst>
              <a:gd name="adj" fmla="val 40000"/>
            </a:avLst>
          </a:prstGeom>
          <a:solidFill>
            <a:srgbClr val="177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3602736" y="3364991"/>
            <a:ext cx="310896" cy="237744"/>
          </a:xfrm>
          <a:prstGeom prst="roundRect">
            <a:avLst>
              <a:gd name="adj" fmla="val 40000"/>
            </a:avLst>
          </a:prstGeom>
          <a:solidFill>
            <a:srgbClr val="177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005072" y="3364991"/>
            <a:ext cx="310896" cy="237744"/>
          </a:xfrm>
          <a:prstGeom prst="roundRect">
            <a:avLst>
              <a:gd name="adj" fmla="val 40000"/>
            </a:avLst>
          </a:prstGeom>
          <a:solidFill>
            <a:srgbClr val="177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407408" y="3364991"/>
            <a:ext cx="310896" cy="237744"/>
          </a:xfrm>
          <a:prstGeom prst="roundRect">
            <a:avLst>
              <a:gd name="adj" fmla="val 40000"/>
            </a:avLst>
          </a:prstGeom>
          <a:solidFill>
            <a:srgbClr val="177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809744" y="3364991"/>
            <a:ext cx="310896" cy="237744"/>
          </a:xfrm>
          <a:prstGeom prst="roundRect">
            <a:avLst>
              <a:gd name="adj" fmla="val 40000"/>
            </a:avLst>
          </a:prstGeom>
          <a:solidFill>
            <a:srgbClr val="E6EA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0" y="3346703"/>
            <a:ext cx="585216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5A6875"/>
                </a:solidFill>
                <a:latin typeface="微软雅黑"/>
                <a:ea typeface="微软雅黑"/>
              </a:rPr>
              <a:t>三处用 AI，配音留给自己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3986783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 i="0">
                <a:solidFill>
                  <a:srgbClr val="0E2A47"/>
                </a:solidFill>
                <a:latin typeface="微软雅黑"/>
                <a:ea typeface="微软雅黑"/>
              </a:rPr>
              <a:t>跨文化表达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200400" y="4005071"/>
            <a:ext cx="310896" cy="237744"/>
          </a:xfrm>
          <a:prstGeom prst="roundRect">
            <a:avLst>
              <a:gd name="adj" fmla="val 40000"/>
            </a:avLst>
          </a:prstGeom>
          <a:solidFill>
            <a:srgbClr val="177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3602736" y="4005071"/>
            <a:ext cx="310896" cy="237744"/>
          </a:xfrm>
          <a:prstGeom prst="roundRect">
            <a:avLst>
              <a:gd name="adj" fmla="val 40000"/>
            </a:avLst>
          </a:prstGeom>
          <a:solidFill>
            <a:srgbClr val="177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005072" y="4005071"/>
            <a:ext cx="310896" cy="237744"/>
          </a:xfrm>
          <a:prstGeom prst="roundRect">
            <a:avLst>
              <a:gd name="adj" fmla="val 40000"/>
            </a:avLst>
          </a:prstGeom>
          <a:solidFill>
            <a:srgbClr val="177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4407408" y="4005071"/>
            <a:ext cx="310896" cy="237744"/>
          </a:xfrm>
          <a:prstGeom prst="roundRect">
            <a:avLst>
              <a:gd name="adj" fmla="val 40000"/>
            </a:avLst>
          </a:prstGeom>
          <a:solidFill>
            <a:srgbClr val="E6EA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4809744" y="4005071"/>
            <a:ext cx="310896" cy="237744"/>
          </a:xfrm>
          <a:prstGeom prst="roundRect">
            <a:avLst>
              <a:gd name="adj" fmla="val 40000"/>
            </a:avLst>
          </a:prstGeom>
          <a:solidFill>
            <a:srgbClr val="E6EA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0" y="3986783"/>
            <a:ext cx="585216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5A6875"/>
                </a:solidFill>
                <a:latin typeface="微软雅黑"/>
                <a:ea typeface="微软雅黑"/>
              </a:rPr>
              <a:t>正在积累，靠上线后的 48 小时数据迭代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" y="4626864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 i="0">
                <a:solidFill>
                  <a:srgbClr val="0E2A47"/>
                </a:solidFill>
                <a:latin typeface="微软雅黑"/>
                <a:ea typeface="微软雅黑"/>
              </a:rPr>
              <a:t>平台运营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200400" y="4645152"/>
            <a:ext cx="310896" cy="237744"/>
          </a:xfrm>
          <a:prstGeom prst="roundRect">
            <a:avLst>
              <a:gd name="adj" fmla="val 40000"/>
            </a:avLst>
          </a:prstGeom>
          <a:solidFill>
            <a:srgbClr val="177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3602736" y="4645152"/>
            <a:ext cx="310896" cy="237744"/>
          </a:xfrm>
          <a:prstGeom prst="roundRect">
            <a:avLst>
              <a:gd name="adj" fmla="val 40000"/>
            </a:avLst>
          </a:prstGeom>
          <a:solidFill>
            <a:srgbClr val="177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4005072" y="4645152"/>
            <a:ext cx="310896" cy="237744"/>
          </a:xfrm>
          <a:prstGeom prst="roundRect">
            <a:avLst>
              <a:gd name="adj" fmla="val 40000"/>
            </a:avLst>
          </a:prstGeom>
          <a:solidFill>
            <a:srgbClr val="E6EA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4407408" y="4645152"/>
            <a:ext cx="310896" cy="237744"/>
          </a:xfrm>
          <a:prstGeom prst="roundRect">
            <a:avLst>
              <a:gd name="adj" fmla="val 40000"/>
            </a:avLst>
          </a:prstGeom>
          <a:solidFill>
            <a:srgbClr val="E6EA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4809744" y="4645152"/>
            <a:ext cx="310896" cy="237744"/>
          </a:xfrm>
          <a:prstGeom prst="roundRect">
            <a:avLst>
              <a:gd name="adj" fmla="val 40000"/>
            </a:avLst>
          </a:prstGeom>
          <a:solidFill>
            <a:srgbClr val="E6EA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486400" y="4626864"/>
            <a:ext cx="585216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5A6875"/>
                </a:solidFill>
                <a:latin typeface="微软雅黑"/>
                <a:ea typeface="微软雅黑"/>
              </a:rPr>
              <a:t>海外各平台推荐逻辑仍在学习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2960" y="5266944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 i="0">
                <a:solidFill>
                  <a:srgbClr val="0E2A47"/>
                </a:solidFill>
                <a:latin typeface="微软雅黑"/>
                <a:ea typeface="微软雅黑"/>
              </a:rPr>
              <a:t>数据分析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200400" y="5285232"/>
            <a:ext cx="310896" cy="237744"/>
          </a:xfrm>
          <a:prstGeom prst="roundRect">
            <a:avLst>
              <a:gd name="adj" fmla="val 40000"/>
            </a:avLst>
          </a:prstGeom>
          <a:solidFill>
            <a:srgbClr val="177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3602736" y="5285232"/>
            <a:ext cx="310896" cy="237744"/>
          </a:xfrm>
          <a:prstGeom prst="roundRect">
            <a:avLst>
              <a:gd name="adj" fmla="val 40000"/>
            </a:avLst>
          </a:prstGeom>
          <a:solidFill>
            <a:srgbClr val="E6EA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4005072" y="5285232"/>
            <a:ext cx="310896" cy="237744"/>
          </a:xfrm>
          <a:prstGeom prst="roundRect">
            <a:avLst>
              <a:gd name="adj" fmla="val 40000"/>
            </a:avLst>
          </a:prstGeom>
          <a:solidFill>
            <a:srgbClr val="E6EA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4407408" y="5285232"/>
            <a:ext cx="310896" cy="237744"/>
          </a:xfrm>
          <a:prstGeom prst="roundRect">
            <a:avLst>
              <a:gd name="adj" fmla="val 40000"/>
            </a:avLst>
          </a:prstGeom>
          <a:solidFill>
            <a:srgbClr val="E6EA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4809744" y="5285232"/>
            <a:ext cx="310896" cy="237744"/>
          </a:xfrm>
          <a:prstGeom prst="roundRect">
            <a:avLst>
              <a:gd name="adj" fmla="val 40000"/>
            </a:avLst>
          </a:prstGeom>
          <a:solidFill>
            <a:srgbClr val="E6EA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486400" y="5266944"/>
            <a:ext cx="585216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5A6875"/>
                </a:solidFill>
                <a:latin typeface="微软雅黑"/>
                <a:ea typeface="微软雅黑"/>
              </a:rPr>
              <a:t>最短的板，已列入近 3 个月行动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22960" y="5779008"/>
            <a:ext cx="10543032" cy="566928"/>
          </a:xfrm>
          <a:prstGeom prst="roundRect">
            <a:avLst>
              <a:gd name="adj" fmla="val 10000"/>
            </a:avLst>
          </a:prstGeom>
          <a:solidFill>
            <a:srgbClr val="FBE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146304" tIns="128016" bIns="91440"/>
          <a:lstStyle/>
          <a:p>
            <a:pPr algn="l">
              <a:lnSpc>
                <a:spcPct val="130000"/>
              </a:lnSpc>
            </a:pPr>
            <a:r>
              <a:rPr sz="1300" b="1" i="0">
                <a:solidFill>
                  <a:srgbClr val="8A4722"/>
                </a:solidFill>
                <a:latin typeface="微软雅黑"/>
                <a:ea typeface="微软雅黑"/>
              </a:rPr>
              <a:t>补法：统计学与 SPSS 课程已在读；每完成一条内容都记一次数据，学期末用真实数据做一次复盘。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77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402336"/>
            <a:ext cx="969264" cy="292608"/>
          </a:xfrm>
          <a:prstGeom prst="roundRect">
            <a:avLst>
              <a:gd name="adj" fmla="val 50000"/>
            </a:avLst>
          </a:prstGeom>
          <a:solidFill>
            <a:srgbClr val="E9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  <a:r>
              <a:rPr sz="1100" b="1">
                <a:solidFill>
                  <a:srgbClr val="0F527D"/>
                </a:solidFill>
                <a:latin typeface="微软雅黑"/>
                <a:ea typeface="微软雅黑"/>
              </a:rPr>
              <a:t>附录 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04672"/>
            <a:ext cx="10543032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0E2A47"/>
                </a:solidFill>
                <a:latin typeface="微软雅黑"/>
                <a:ea typeface="微软雅黑"/>
              </a:rPr>
              <a:t>成长时间线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44752"/>
            <a:ext cx="10543032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5A6875"/>
                </a:solidFill>
                <a:latin typeface="微软雅黑"/>
                <a:ea typeface="微软雅黑"/>
              </a:rPr>
              <a:t>已经发生的用实线，还没发生的用虚线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353312"/>
            <a:ext cx="566928" cy="41148"/>
          </a:xfrm>
          <a:prstGeom prst="rect">
            <a:avLst/>
          </a:prstGeom>
          <a:solidFill>
            <a:srgbClr val="177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18520" y="6327648"/>
            <a:ext cx="8229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 i="0">
                <a:solidFill>
                  <a:srgbClr val="939EA9"/>
                </a:solidFill>
                <a:latin typeface="微软雅黑"/>
                <a:ea typeface="微软雅黑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38251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 i="0">
                <a:solidFill>
                  <a:srgbClr val="939EA9"/>
                </a:solidFill>
                <a:latin typeface="微软雅黑"/>
                <a:ea typeface="微软雅黑"/>
              </a:rPr>
              <a:t>苏彤彤 · 成长赛道 · 生涯发展展示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3291840"/>
            <a:ext cx="10543032" cy="41148"/>
          </a:xfrm>
          <a:prstGeom prst="rect">
            <a:avLst/>
          </a:prstGeom>
          <a:solidFill>
            <a:srgbClr val="DC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99616" y="3191256"/>
            <a:ext cx="237744" cy="237744"/>
          </a:xfrm>
          <a:prstGeom prst="ellipse">
            <a:avLst/>
          </a:prstGeom>
          <a:solidFill>
            <a:srgbClr val="177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240280"/>
            <a:ext cx="14630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1771A8"/>
                </a:solidFill>
                <a:latin typeface="微软雅黑"/>
                <a:ea typeface="微软雅黑"/>
              </a:rPr>
              <a:t>2026.09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514600"/>
            <a:ext cx="182880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0E2A47"/>
                </a:solidFill>
                <a:latin typeface="微软雅黑"/>
                <a:ea typeface="微软雅黑"/>
              </a:rPr>
              <a:t>开账号做电影分析</a:t>
            </a:r>
          </a:p>
          <a:p>
            <a:pPr algn="ctr">
              <a:lnSpc>
                <a:spcPct val="120000"/>
              </a:lnSpc>
              <a:spcBef>
                <a:spcPts val="200"/>
              </a:spcBef>
            </a:pPr>
            <a:r>
              <a:rPr sz="1050" b="0" i="0">
                <a:solidFill>
                  <a:srgbClr val="939EA9"/>
                </a:solidFill>
                <a:latin typeface="微软雅黑"/>
                <a:ea typeface="微软雅黑"/>
              </a:rPr>
              <a:t>撞上同质化</a:t>
            </a:r>
          </a:p>
        </p:txBody>
      </p:sp>
      <p:sp>
        <p:nvSpPr>
          <p:cNvPr id="13" name="Oval 12"/>
          <p:cNvSpPr/>
          <p:nvPr/>
        </p:nvSpPr>
        <p:spPr>
          <a:xfrm>
            <a:off x="2997708" y="3191256"/>
            <a:ext cx="237744" cy="237744"/>
          </a:xfrm>
          <a:prstGeom prst="ellipse">
            <a:avLst/>
          </a:prstGeom>
          <a:solidFill>
            <a:srgbClr val="177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412492" y="3611880"/>
            <a:ext cx="14630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1771A8"/>
                </a:solidFill>
                <a:latin typeface="微软雅黑"/>
                <a:ea typeface="微软雅黑"/>
              </a:rPr>
              <a:t>2026.10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29612" y="3886200"/>
            <a:ext cx="182880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0E2A47"/>
                </a:solidFill>
                <a:latin typeface="微软雅黑"/>
                <a:ea typeface="微软雅黑"/>
              </a:rPr>
              <a:t>请教老师</a:t>
            </a:r>
          </a:p>
          <a:p>
            <a:pPr algn="ctr">
              <a:lnSpc>
                <a:spcPct val="120000"/>
              </a:lnSpc>
              <a:spcBef>
                <a:spcPts val="200"/>
              </a:spcBef>
            </a:pPr>
            <a:r>
              <a:rPr sz="1050" b="0" i="0">
                <a:solidFill>
                  <a:srgbClr val="939EA9"/>
                </a:solidFill>
                <a:latin typeface="微软雅黑"/>
                <a:ea typeface="微软雅黑"/>
              </a:rPr>
              <a:t>换赛道：中国书籍出海</a:t>
            </a:r>
          </a:p>
        </p:txBody>
      </p:sp>
      <p:sp>
        <p:nvSpPr>
          <p:cNvPr id="16" name="Oval 15"/>
          <p:cNvSpPr/>
          <p:nvPr/>
        </p:nvSpPr>
        <p:spPr>
          <a:xfrm>
            <a:off x="4495800" y="3191256"/>
            <a:ext cx="237744" cy="237744"/>
          </a:xfrm>
          <a:prstGeom prst="ellipse">
            <a:avLst/>
          </a:prstGeom>
          <a:solidFill>
            <a:srgbClr val="177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10584" y="2240280"/>
            <a:ext cx="14630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1771A8"/>
                </a:solidFill>
                <a:latin typeface="微软雅黑"/>
                <a:ea typeface="微软雅黑"/>
              </a:rPr>
              <a:t>2026.10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27704" y="2514600"/>
            <a:ext cx="182880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0E2A47"/>
                </a:solidFill>
                <a:latin typeface="微软雅黑"/>
                <a:ea typeface="微软雅黑"/>
              </a:rPr>
              <a:t>作品集上线</a:t>
            </a:r>
          </a:p>
          <a:p>
            <a:pPr algn="ctr">
              <a:lnSpc>
                <a:spcPct val="120000"/>
              </a:lnSpc>
              <a:spcBef>
                <a:spcPts val="200"/>
              </a:spcBef>
            </a:pPr>
            <a:r>
              <a:rPr sz="1050" b="0" i="0">
                <a:solidFill>
                  <a:srgbClr val="939EA9"/>
                </a:solidFill>
                <a:latin typeface="微软雅黑"/>
                <a:ea typeface="微软雅黑"/>
              </a:rPr>
              <a:t>独立搭建个人网站</a:t>
            </a:r>
          </a:p>
        </p:txBody>
      </p:sp>
      <p:sp>
        <p:nvSpPr>
          <p:cNvPr id="19" name="Oval 18"/>
          <p:cNvSpPr/>
          <p:nvPr/>
        </p:nvSpPr>
        <p:spPr>
          <a:xfrm>
            <a:off x="5993892" y="3191256"/>
            <a:ext cx="237744" cy="237744"/>
          </a:xfrm>
          <a:prstGeom prst="ellipse">
            <a:avLst/>
          </a:prstGeom>
          <a:solidFill>
            <a:srgbClr val="939E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08676" y="3611880"/>
            <a:ext cx="14630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939EA9"/>
                </a:solidFill>
                <a:latin typeface="微软雅黑"/>
                <a:ea typeface="微软雅黑"/>
              </a:rPr>
              <a:t>2026.11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25796" y="3886200"/>
            <a:ext cx="182880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0" i="0">
                <a:solidFill>
                  <a:srgbClr val="5A6875"/>
                </a:solidFill>
                <a:latin typeface="微软雅黑"/>
                <a:ea typeface="微软雅黑"/>
              </a:rPr>
              <a:t>第一期上线</a:t>
            </a:r>
          </a:p>
          <a:p>
            <a:pPr algn="ctr">
              <a:lnSpc>
                <a:spcPct val="120000"/>
              </a:lnSpc>
              <a:spcBef>
                <a:spcPts val="200"/>
              </a:spcBef>
            </a:pPr>
            <a:r>
              <a:rPr sz="1050" b="0" i="0">
                <a:solidFill>
                  <a:srgbClr val="939EA9"/>
                </a:solidFill>
                <a:latin typeface="微软雅黑"/>
                <a:ea typeface="微软雅黑"/>
              </a:rPr>
              <a:t>48 小时数据观测</a:t>
            </a:r>
          </a:p>
        </p:txBody>
      </p:sp>
      <p:sp>
        <p:nvSpPr>
          <p:cNvPr id="22" name="Oval 21"/>
          <p:cNvSpPr/>
          <p:nvPr/>
        </p:nvSpPr>
        <p:spPr>
          <a:xfrm>
            <a:off x="7491984" y="3191256"/>
            <a:ext cx="237744" cy="237744"/>
          </a:xfrm>
          <a:prstGeom prst="ellipse">
            <a:avLst/>
          </a:prstGeom>
          <a:solidFill>
            <a:srgbClr val="939E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06768" y="2240280"/>
            <a:ext cx="14630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939EA9"/>
                </a:solidFill>
                <a:latin typeface="微软雅黑"/>
                <a:ea typeface="微软雅黑"/>
              </a:rPr>
              <a:t>2027.03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3888" y="2514600"/>
            <a:ext cx="182880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0" i="0">
                <a:solidFill>
                  <a:srgbClr val="5A6875"/>
                </a:solidFill>
                <a:latin typeface="微软雅黑"/>
                <a:ea typeface="微软雅黑"/>
              </a:rPr>
              <a:t>蒲公英营销师</a:t>
            </a:r>
          </a:p>
          <a:p>
            <a:pPr algn="ctr">
              <a:lnSpc>
                <a:spcPct val="120000"/>
              </a:lnSpc>
              <a:spcBef>
                <a:spcPts val="200"/>
              </a:spcBef>
            </a:pPr>
            <a:r>
              <a:rPr sz="1050" b="0" i="0">
                <a:solidFill>
                  <a:srgbClr val="939EA9"/>
                </a:solidFill>
                <a:latin typeface="微软雅黑"/>
                <a:ea typeface="微软雅黑"/>
              </a:rPr>
              <a:t>第二个目标方向落到证书</a:t>
            </a:r>
          </a:p>
        </p:txBody>
      </p:sp>
      <p:sp>
        <p:nvSpPr>
          <p:cNvPr id="25" name="Oval 24"/>
          <p:cNvSpPr/>
          <p:nvPr/>
        </p:nvSpPr>
        <p:spPr>
          <a:xfrm>
            <a:off x="8990076" y="3191256"/>
            <a:ext cx="237744" cy="237744"/>
          </a:xfrm>
          <a:prstGeom prst="ellipse">
            <a:avLst/>
          </a:prstGeom>
          <a:solidFill>
            <a:srgbClr val="939E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04860" y="3611880"/>
            <a:ext cx="14630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939EA9"/>
                </a:solidFill>
                <a:latin typeface="微软雅黑"/>
                <a:ea typeface="微软雅黑"/>
              </a:rPr>
              <a:t>2027.03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1980" y="3886200"/>
            <a:ext cx="182880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0" i="0">
                <a:solidFill>
                  <a:srgbClr val="5A6875"/>
                </a:solidFill>
                <a:latin typeface="微软雅黑"/>
                <a:ea typeface="微软雅黑"/>
              </a:rPr>
              <a:t>第一段实习</a:t>
            </a:r>
          </a:p>
          <a:p>
            <a:pPr algn="ctr">
              <a:lnSpc>
                <a:spcPct val="120000"/>
              </a:lnSpc>
              <a:spcBef>
                <a:spcPts val="200"/>
              </a:spcBef>
            </a:pPr>
            <a:r>
              <a:rPr sz="1050" b="0" i="0">
                <a:solidFill>
                  <a:srgbClr val="939EA9"/>
                </a:solidFill>
                <a:latin typeface="微软雅黑"/>
                <a:ea typeface="微软雅黑"/>
              </a:rPr>
              <a:t>目标：相关岗位</a:t>
            </a:r>
          </a:p>
        </p:txBody>
      </p:sp>
      <p:sp>
        <p:nvSpPr>
          <p:cNvPr id="28" name="Oval 27"/>
          <p:cNvSpPr/>
          <p:nvPr/>
        </p:nvSpPr>
        <p:spPr>
          <a:xfrm>
            <a:off x="10488168" y="3191256"/>
            <a:ext cx="237744" cy="237744"/>
          </a:xfrm>
          <a:prstGeom prst="ellipse">
            <a:avLst/>
          </a:prstGeom>
          <a:solidFill>
            <a:srgbClr val="939E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902952" y="2240280"/>
            <a:ext cx="14630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939EA9"/>
                </a:solidFill>
                <a:latin typeface="微软雅黑"/>
                <a:ea typeface="微软雅黑"/>
              </a:rPr>
              <a:t>2027.09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20072" y="2514600"/>
            <a:ext cx="182880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0" i="0">
                <a:solidFill>
                  <a:srgbClr val="5A6875"/>
                </a:solidFill>
                <a:latin typeface="微软雅黑"/>
                <a:ea typeface="微软雅黑"/>
              </a:rPr>
              <a:t>独立完成项目</a:t>
            </a:r>
          </a:p>
          <a:p>
            <a:pPr algn="ctr">
              <a:lnSpc>
                <a:spcPct val="120000"/>
              </a:lnSpc>
              <a:spcBef>
                <a:spcPts val="200"/>
              </a:spcBef>
            </a:pPr>
            <a:r>
              <a:rPr sz="1050" b="0" i="0">
                <a:solidFill>
                  <a:srgbClr val="939EA9"/>
                </a:solidFill>
                <a:latin typeface="微软雅黑"/>
                <a:ea typeface="微软雅黑"/>
              </a:rPr>
              <a:t>形成可复用方法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2960" y="5138928"/>
            <a:ext cx="10543032" cy="786384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146304" tIns="146304" bIns="91440"/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E2A47"/>
                </a:solidFill>
                <a:latin typeface="微软雅黑"/>
                <a:ea typeface="微软雅黑"/>
              </a:rPr>
              <a:t>前三个点是已经发生过的，后四个是排好的。把它们放在一条线上，是为了让「我走到哪了」看得见。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77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402336"/>
            <a:ext cx="969264" cy="292608"/>
          </a:xfrm>
          <a:prstGeom prst="roundRect">
            <a:avLst>
              <a:gd name="adj" fmla="val 50000"/>
            </a:avLst>
          </a:prstGeom>
          <a:solidFill>
            <a:srgbClr val="E9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  <a:r>
              <a:rPr sz="1100" b="1">
                <a:solidFill>
                  <a:srgbClr val="0F527D"/>
                </a:solidFill>
                <a:latin typeface="微软雅黑"/>
                <a:ea typeface="微软雅黑"/>
              </a:rPr>
              <a:t>附录 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04672"/>
            <a:ext cx="10543032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0E2A47"/>
                </a:solidFill>
                <a:latin typeface="微软雅黑"/>
                <a:ea typeface="微软雅黑"/>
              </a:rPr>
              <a:t>证据清单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44752"/>
            <a:ext cx="10543032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5A6875"/>
                </a:solidFill>
                <a:latin typeface="微软雅黑"/>
                <a:ea typeface="微软雅黑"/>
              </a:rPr>
              <a:t>按证据强度排序：官方认定 &gt; 第三方背书 &gt; 现场实证 &gt; 传播影响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353312"/>
            <a:ext cx="566928" cy="41148"/>
          </a:xfrm>
          <a:prstGeom prst="rect">
            <a:avLst/>
          </a:prstGeom>
          <a:solidFill>
            <a:srgbClr val="177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18520" y="6327648"/>
            <a:ext cx="8229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 i="0">
                <a:solidFill>
                  <a:srgbClr val="939EA9"/>
                </a:solidFill>
                <a:latin typeface="微软雅黑"/>
                <a:ea typeface="微软雅黑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38251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 i="0">
                <a:solidFill>
                  <a:srgbClr val="939EA9"/>
                </a:solidFill>
                <a:latin typeface="微软雅黑"/>
                <a:ea typeface="微软雅黑"/>
              </a:rPr>
              <a:t>苏彤彤 · 成长赛道 · 生涯发展展示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084831"/>
            <a:ext cx="10543032" cy="548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87552" y="2203703"/>
            <a:ext cx="1371600" cy="347472"/>
          </a:xfrm>
          <a:prstGeom prst="roundRect">
            <a:avLst>
              <a:gd name="adj" fmla="val 40000"/>
            </a:avLst>
          </a:prstGeom>
          <a:solidFill>
            <a:srgbClr val="177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/>
                <a:ea typeface="微软雅黑"/>
              </a:rPr>
              <a:t>第三方背书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2203703"/>
            <a:ext cx="85953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0E2A47"/>
                </a:solidFill>
                <a:latin typeface="微软雅黑"/>
                <a:ea typeface="微软雅黑"/>
              </a:rPr>
              <a:t>相关老师的咨询建议：明确我的特长与适合风格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2743200"/>
            <a:ext cx="10543032" cy="548640"/>
          </a:xfrm>
          <a:prstGeom prst="roundRect">
            <a:avLst>
              <a:gd name="adj" fmla="val 12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87552" y="2862072"/>
            <a:ext cx="1371600" cy="347472"/>
          </a:xfrm>
          <a:prstGeom prst="roundRect">
            <a:avLst>
              <a:gd name="adj" fmla="val 40000"/>
            </a:avLst>
          </a:prstGeom>
          <a:solidFill>
            <a:srgbClr val="C47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/>
                <a:ea typeface="微软雅黑"/>
              </a:rPr>
              <a:t>进行中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0" y="2862072"/>
            <a:ext cx="85953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0E2A47"/>
                </a:solidFill>
                <a:latin typeface="微软雅黑"/>
                <a:ea typeface="微软雅黑"/>
              </a:rPr>
              <a:t>第一期制作中：选题与脚本已定，英文配音由我完成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3401568"/>
            <a:ext cx="10543032" cy="548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87552" y="3520440"/>
            <a:ext cx="1371600" cy="347472"/>
          </a:xfrm>
          <a:prstGeom prst="roundRect">
            <a:avLst>
              <a:gd name="adj" fmla="val 40000"/>
            </a:avLst>
          </a:prstGeom>
          <a:solidFill>
            <a:srgbClr val="177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/>
                <a:ea typeface="微软雅黑"/>
              </a:rPr>
              <a:t>现场实证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0" y="3520440"/>
            <a:ext cx="85953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0E2A47"/>
                </a:solidFill>
                <a:latin typeface="微软雅黑"/>
                <a:ea typeface="微软雅黑"/>
              </a:rPr>
              <a:t>个人作品集网站已上线、可访问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4059935"/>
            <a:ext cx="10543032" cy="548640"/>
          </a:xfrm>
          <a:prstGeom prst="roundRect">
            <a:avLst>
              <a:gd name="adj" fmla="val 12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87552" y="4178807"/>
            <a:ext cx="1371600" cy="347472"/>
          </a:xfrm>
          <a:prstGeom prst="roundRect">
            <a:avLst>
              <a:gd name="adj" fmla="val 40000"/>
            </a:avLst>
          </a:prstGeom>
          <a:solidFill>
            <a:srgbClr val="939E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/>
                <a:ea typeface="微软雅黑"/>
              </a:rPr>
              <a:t>传播影响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60320" y="4178807"/>
            <a:ext cx="85953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5A6875"/>
                </a:solidFill>
                <a:latin typeface="微软雅黑"/>
                <a:ea typeface="微软雅黑"/>
              </a:rPr>
              <a:t>第一期上线后的 48 小时数据（待回）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4718304"/>
            <a:ext cx="10543032" cy="548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87552" y="4837176"/>
            <a:ext cx="1371600" cy="347472"/>
          </a:xfrm>
          <a:prstGeom prst="roundRect">
            <a:avLst>
              <a:gd name="adj" fmla="val 40000"/>
            </a:avLst>
          </a:prstGeom>
          <a:solidFill>
            <a:srgbClr val="C47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/>
                <a:ea typeface="微软雅黑"/>
              </a:rPr>
              <a:t>待补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60320" y="4837176"/>
            <a:ext cx="85953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5A6875"/>
                </a:solidFill>
                <a:latin typeface="微软雅黑"/>
                <a:ea typeface="微软雅黑"/>
              </a:rPr>
              <a:t>10/27 指导老师面谈记录（微信留证）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" y="5376671"/>
            <a:ext cx="10543032" cy="548640"/>
          </a:xfrm>
          <a:prstGeom prst="roundRect">
            <a:avLst>
              <a:gd name="adj" fmla="val 12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87552" y="5495543"/>
            <a:ext cx="1371600" cy="347472"/>
          </a:xfrm>
          <a:prstGeom prst="roundRect">
            <a:avLst>
              <a:gd name="adj" fmla="val 40000"/>
            </a:avLst>
          </a:prstGeom>
          <a:solidFill>
            <a:srgbClr val="C47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/>
                <a:ea typeface="微软雅黑"/>
              </a:rPr>
              <a:t>目标留证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60320" y="5495543"/>
            <a:ext cx="85953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5A6875"/>
                </a:solidFill>
                <a:latin typeface="微软雅黑"/>
                <a:ea typeface="微软雅黑"/>
              </a:rPr>
              <a:t>Carnival 实践课独立完成的「峰羽」中文命名方案：这条线的第一个作品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6016752"/>
            <a:ext cx="1054303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939EA9"/>
                </a:solidFill>
                <a:latin typeface="微软雅黑"/>
                <a:ea typeface="微软雅黑"/>
              </a:rPr>
              <a:t>注：播放量属于最底层证据。真正决定分数的是前两层——有没有具体的人、具体的意见。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77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402336"/>
            <a:ext cx="969264" cy="292608"/>
          </a:xfrm>
          <a:prstGeom prst="roundRect">
            <a:avLst>
              <a:gd name="adj" fmla="val 50000"/>
            </a:avLst>
          </a:prstGeom>
          <a:solidFill>
            <a:srgbClr val="E9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  <a:r>
              <a:rPr sz="1100" b="1">
                <a:solidFill>
                  <a:srgbClr val="0F527D"/>
                </a:solidFill>
                <a:latin typeface="微软雅黑"/>
                <a:ea typeface="微软雅黑"/>
              </a:rPr>
              <a:t>附录 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04672"/>
            <a:ext cx="10543032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0E2A47"/>
                </a:solidFill>
                <a:latin typeface="微软雅黑"/>
                <a:ea typeface="微软雅黑"/>
              </a:rPr>
              <a:t>内外环境：优势、劣势、机会、威胁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44752"/>
            <a:ext cx="10543032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5A6875"/>
                </a:solidFill>
                <a:latin typeface="微软雅黑"/>
                <a:ea typeface="微软雅黑"/>
              </a:rPr>
              <a:t>对应生涯发展报告的「内外环境分析」——先看外部有没有位置，再看自己够不够格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353312"/>
            <a:ext cx="566928" cy="41148"/>
          </a:xfrm>
          <a:prstGeom prst="rect">
            <a:avLst/>
          </a:prstGeom>
          <a:solidFill>
            <a:srgbClr val="177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18520" y="6327648"/>
            <a:ext cx="8229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 i="0">
                <a:solidFill>
                  <a:srgbClr val="939EA9"/>
                </a:solidFill>
                <a:latin typeface="微软雅黑"/>
                <a:ea typeface="微软雅黑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38251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 i="0">
                <a:solidFill>
                  <a:srgbClr val="939EA9"/>
                </a:solidFill>
                <a:latin typeface="微软雅黑"/>
                <a:ea typeface="微软雅黑"/>
              </a:rPr>
              <a:t>苏彤彤 · 成长赛道 · 生涯发展展示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084831"/>
            <a:ext cx="5074920" cy="1810512"/>
          </a:xfrm>
          <a:prstGeom prst="roundRect">
            <a:avLst>
              <a:gd name="adj" fmla="val 10000"/>
            </a:avLst>
          </a:prstGeom>
          <a:solidFill>
            <a:srgbClr val="E9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22960" y="2231135"/>
            <a:ext cx="45720" cy="1517904"/>
          </a:xfrm>
          <a:prstGeom prst="roundRect">
            <a:avLst>
              <a:gd name="adj" fmla="val 50000"/>
            </a:avLst>
          </a:prstGeom>
          <a:solidFill>
            <a:srgbClr val="177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60704" y="2212847"/>
            <a:ext cx="46634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1771A8"/>
                </a:solidFill>
                <a:latin typeface="微软雅黑"/>
                <a:ea typeface="微软雅黑"/>
              </a:rPr>
              <a:t>S 优势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" y="2560319"/>
            <a:ext cx="4663440" cy="12070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 i="0">
                <a:solidFill>
                  <a:srgbClr val="0E2A47"/>
                </a:solidFill>
                <a:latin typeface="微软雅黑"/>
                <a:ea typeface="微软雅黑"/>
              </a:rPr>
              <a:t>· 外语与跨文化判断：上外新传，外语是这道岗位的门槛
· AI 流程已跑通：七个环节固定，一期 4—5 天
· 已有两件产出：出海账号第一期、峰羽命名方案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2084831"/>
            <a:ext cx="5074920" cy="1810512"/>
          </a:xfrm>
          <a:prstGeom prst="roundRect">
            <a:avLst>
              <a:gd name="adj" fmla="val 10000"/>
            </a:avLst>
          </a:prstGeom>
          <a:solidFill>
            <a:srgbClr val="FBE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63640" y="2231135"/>
            <a:ext cx="45720" cy="1517904"/>
          </a:xfrm>
          <a:prstGeom prst="roundRect">
            <a:avLst>
              <a:gd name="adj" fmla="val 50000"/>
            </a:avLst>
          </a:prstGeom>
          <a:solidFill>
            <a:srgbClr val="C47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01384" y="2212847"/>
            <a:ext cx="46634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C4703C"/>
                </a:solidFill>
                <a:latin typeface="微软雅黑"/>
                <a:ea typeface="微软雅黑"/>
              </a:rPr>
              <a:t>W 劣势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01384" y="2560319"/>
            <a:ext cx="4663440" cy="12070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 i="0">
                <a:solidFill>
                  <a:srgbClr val="0E2A47"/>
                </a:solidFill>
                <a:latin typeface="微软雅黑"/>
                <a:ea typeface="微软雅黑"/>
              </a:rPr>
              <a:t>· 大一，专业训练刚起步
· 无实习、无行业人脉
· 第一期未上线，拿不出真实播放与完播数据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4041648"/>
            <a:ext cx="5074920" cy="1810512"/>
          </a:xfrm>
          <a:prstGeom prst="roundRect">
            <a:avLst>
              <a:gd name="adj" fmla="val 10000"/>
            </a:avLst>
          </a:prstGeom>
          <a:solidFill>
            <a:srgbClr val="E9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2960" y="4187952"/>
            <a:ext cx="45720" cy="1517904"/>
          </a:xfrm>
          <a:prstGeom prst="roundRect">
            <a:avLst>
              <a:gd name="adj" fmla="val 50000"/>
            </a:avLst>
          </a:prstGeom>
          <a:solidFill>
            <a:srgbClr val="177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60704" y="4169664"/>
            <a:ext cx="46634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1771A8"/>
                </a:solidFill>
                <a:latin typeface="微软雅黑"/>
                <a:ea typeface="微软雅黑"/>
              </a:rPr>
              <a:t>O 机会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" y="4517136"/>
            <a:ext cx="4663440" cy="12070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 i="0">
                <a:solidFill>
                  <a:srgbClr val="0E2A47"/>
                </a:solidFill>
                <a:latin typeface="微软雅黑"/>
                <a:ea typeface="微软雅黑"/>
              </a:rPr>
              <a:t>· 内容出海岗位需求在增，缺口明确
· AI 降低制作门槛，个人可完成过去要团队做的事
· 上海：媒体与广告公司集中，信息与实习机会多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63640" y="4041648"/>
            <a:ext cx="5074920" cy="1810512"/>
          </a:xfrm>
          <a:prstGeom prst="roundRect">
            <a:avLst>
              <a:gd name="adj" fmla="val 10000"/>
            </a:avLst>
          </a:prstGeom>
          <a:solidFill>
            <a:srgbClr val="FBE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263640" y="4187952"/>
            <a:ext cx="45720" cy="1517904"/>
          </a:xfrm>
          <a:prstGeom prst="roundRect">
            <a:avLst>
              <a:gd name="adj" fmla="val 50000"/>
            </a:avLst>
          </a:prstGeom>
          <a:solidFill>
            <a:srgbClr val="C47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01384" y="4169664"/>
            <a:ext cx="46634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C4703C"/>
                </a:solidFill>
                <a:latin typeface="微软雅黑"/>
                <a:ea typeface="微软雅黑"/>
              </a:rPr>
              <a:t>T 威胁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01384" y="4517136"/>
            <a:ext cx="4663440" cy="12070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 i="0">
                <a:solidFill>
                  <a:srgbClr val="0E2A47"/>
                </a:solidFill>
                <a:latin typeface="微软雅黑"/>
                <a:ea typeface="微软雅黑"/>
              </a:rPr>
              <a:t>· 同质化严重，单靠内容难建壁垒——做电影分析时踩过
· 平台规则与算法变动，账号积累不稳定
· 岗位名目不统一、招聘分散，要用作品自证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6053328"/>
            <a:ext cx="1054303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 i="0">
                <a:solidFill>
                  <a:srgbClr val="0E2A47"/>
                </a:solidFill>
                <a:latin typeface="微软雅黑"/>
                <a:ea typeface="微软雅黑"/>
              </a:rPr>
              <a:t>结论：机会大于威胁，但劣势决定节奏——所以近期先补作品与数据，不急着谈「独立负责」。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18520" y="6327648"/>
            <a:ext cx="8229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 i="0">
                <a:solidFill>
                  <a:srgbClr val="939EA9"/>
                </a:solidFill>
                <a:latin typeface="微软雅黑"/>
                <a:ea typeface="微软雅黑"/>
              </a:rPr>
              <a:t>17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638251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 i="0">
                <a:solidFill>
                  <a:srgbClr val="939EA9"/>
                </a:solidFill>
                <a:latin typeface="微软雅黑"/>
                <a:ea typeface="微软雅黑"/>
              </a:rPr>
              <a:t>苏彤彤 · 成长赛道 · 生涯发展展示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